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
  </p:notesMasterIdLst>
  <p:sldIdLst>
    <p:sldId id="256" r:id="rId2"/>
    <p:sldId id="278" r:id="rId3"/>
    <p:sldId id="285" r:id="rId4"/>
    <p:sldId id="281" r:id="rId5"/>
    <p:sldId id="265" r:id="rId6"/>
    <p:sldId id="268" r:id="rId7"/>
  </p:sldIdLst>
  <p:sldSz cx="9144000" cy="5143500" type="screen16x9"/>
  <p:notesSz cx="6858000" cy="9144000"/>
  <p:embeddedFontLst>
    <p:embeddedFont>
      <p:font typeface="Oswald"/>
      <p:regular r:id="rId9"/>
      <p:bold r:id="rId10"/>
    </p:embeddedFont>
    <p:embeddedFont>
      <p:font typeface="Montserrat" panose="020B0604020202020204" charset="0"/>
      <p:regular r:id="rId11"/>
      <p:bold r:id="rId12"/>
      <p:italic r:id="rId13"/>
      <p:boldItalic r:id="rId14"/>
    </p:embeddedFont>
    <p:embeddedFont>
      <p:font typeface="Montserrat Medium" panose="020B0604020202020204" charset="0"/>
      <p:regular r:id="rId15"/>
      <p:bold r:id="rId16"/>
      <p:italic r:id="rId17"/>
      <p:boldItalic r:id="rId18"/>
    </p:embeddedFont>
    <p:embeddedFont>
      <p:font typeface="Montserrat Light" panose="020B0604020202020204" charset="0"/>
      <p:regular r:id="rId19"/>
      <p:bold r:id="rId20"/>
      <p:italic r:id="rId21"/>
      <p:boldItalic r:id="rId22"/>
    </p:embeddedFont>
    <p:embeddedFont>
      <p:font typeface="Playfair Display" panose="020B0604020202020204" charset="0"/>
      <p:regular r:id="rId23"/>
      <p:bold r:id="rId24"/>
      <p:italic r:id="rId25"/>
      <p:boldItalic r:id="rId26"/>
    </p:embeddedFont>
    <p:embeddedFont>
      <p:font typeface="Montserrat SemiBold"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2F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07996D-6F95-45BD-9F09-05CC6B0C854D}">
  <a:tblStyle styleId="{FA07996D-6F95-45BD-9F09-05CC6B0C854D}" styleName="Table_0">
    <a:wholeTbl>
      <a:tcTxStyle>
        <a:font>
          <a:latin typeface="Arial"/>
          <a:ea typeface="Arial"/>
          <a:cs typeface="Arial"/>
        </a:font>
        <a:srgbClr val="000000"/>
      </a:tcTxStyle>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font" Target="fonts/font18.fntdata"/><Relationship Id="rId3" Type="http://schemas.openxmlformats.org/officeDocument/2006/relationships/slide" Target="slides/slide2.xml"/><Relationship Id="rId21" Type="http://schemas.openxmlformats.org/officeDocument/2006/relationships/font" Target="fonts/font1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font" Target="fonts/font1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font" Target="fonts/font1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font" Target="fonts/font20.fntdata"/><Relationship Id="rId10" Type="http://schemas.openxmlformats.org/officeDocument/2006/relationships/font" Target="fonts/font2.fntdata"/><Relationship Id="rId19" Type="http://schemas.openxmlformats.org/officeDocument/2006/relationships/font" Target="fonts/font1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schemas.openxmlformats.org/officeDocument/2006/relationships/font" Target="fonts/font19.fntdata"/><Relationship Id="rId30" Type="http://schemas.openxmlformats.org/officeDocument/2006/relationships/font" Target="fonts/font22.fntdata"/><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ct val="127272"/>
              <a:buChar char="●"/>
              <a:defRPr sz="1100"/>
            </a:lvl1pPr>
            <a:lvl2pPr lvl="1">
              <a:spcBef>
                <a:spcPts val="0"/>
              </a:spcBef>
              <a:buSzPct val="127272"/>
              <a:buChar char="○"/>
              <a:defRPr sz="1100"/>
            </a:lvl2pPr>
            <a:lvl3pPr lvl="2">
              <a:spcBef>
                <a:spcPts val="0"/>
              </a:spcBef>
              <a:buSzPct val="127272"/>
              <a:buChar char="■"/>
              <a:defRPr sz="1100"/>
            </a:lvl3pPr>
            <a:lvl4pPr lvl="3">
              <a:spcBef>
                <a:spcPts val="0"/>
              </a:spcBef>
              <a:buSzPct val="127272"/>
              <a:buChar char="●"/>
              <a:defRPr sz="1100"/>
            </a:lvl4pPr>
            <a:lvl5pPr lvl="4">
              <a:spcBef>
                <a:spcPts val="0"/>
              </a:spcBef>
              <a:buSzPct val="127272"/>
              <a:buChar char="○"/>
              <a:defRPr sz="1100"/>
            </a:lvl5pPr>
            <a:lvl6pPr lvl="5">
              <a:spcBef>
                <a:spcPts val="0"/>
              </a:spcBef>
              <a:buSzPct val="127272"/>
              <a:buChar char="■"/>
              <a:defRPr sz="1100"/>
            </a:lvl6pPr>
            <a:lvl7pPr lvl="6">
              <a:spcBef>
                <a:spcPts val="0"/>
              </a:spcBef>
              <a:buSzPct val="127272"/>
              <a:buChar char="●"/>
              <a:defRPr sz="1100"/>
            </a:lvl7pPr>
            <a:lvl8pPr lvl="7">
              <a:spcBef>
                <a:spcPts val="0"/>
              </a:spcBef>
              <a:buSzPct val="127272"/>
              <a:buChar char="○"/>
              <a:defRPr sz="1100"/>
            </a:lvl8pPr>
            <a:lvl9pPr lvl="8">
              <a:spcBef>
                <a:spcPts val="0"/>
              </a:spcBef>
              <a:buSzPct val="127272"/>
              <a:buChar char="■"/>
              <a:defRPr sz="1100"/>
            </a:lvl9pPr>
          </a:lstStyle>
          <a:p>
            <a:endParaRPr/>
          </a:p>
        </p:txBody>
      </p:sp>
    </p:spTree>
    <p:extLst>
      <p:ext uri="{BB962C8B-B14F-4D97-AF65-F5344CB8AC3E}">
        <p14:creationId xmlns:p14="http://schemas.microsoft.com/office/powerpoint/2010/main" val="469692931"/>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Shape 5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6" name="Shape 5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026529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7" name="Shape 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688450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7" name="Shape 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734924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7" name="Shape 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067187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Shape 1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0" name="Shape 14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a:spcBef>
                <a:spcPts val="0"/>
              </a:spcBef>
              <a:buNone/>
            </a:pPr>
            <a:r>
              <a:rPr lang="en-US" b="1" dirty="0">
                <a:solidFill>
                  <a:srgbClr val="414141"/>
                </a:solidFill>
                <a:highlight>
                  <a:srgbClr val="FFFFFF"/>
                </a:highlight>
              </a:rPr>
              <a:t>Societal benefits- </a:t>
            </a:r>
            <a:r>
              <a:rPr lang="en-US" dirty="0">
                <a:solidFill>
                  <a:srgbClr val="414141"/>
                </a:solidFill>
                <a:highlight>
                  <a:srgbClr val="FFFFFF"/>
                </a:highlight>
              </a:rPr>
              <a:t>Geospatial technology can play a role in emergencies—such as helping people prepare for a natural disaster by highlighting flood-risk areas.</a:t>
            </a:r>
          </a:p>
          <a:p>
            <a:pPr lvl="0">
              <a:spcBef>
                <a:spcPts val="0"/>
              </a:spcBef>
              <a:buNone/>
            </a:pPr>
            <a:endParaRPr lang="en-US" b="1" dirty="0">
              <a:solidFill>
                <a:srgbClr val="414141"/>
              </a:solidFill>
              <a:highlight>
                <a:srgbClr val="FFFFFF"/>
              </a:highlight>
            </a:endParaRPr>
          </a:p>
          <a:p>
            <a:pPr lvl="0">
              <a:spcBef>
                <a:spcPts val="0"/>
              </a:spcBef>
              <a:buNone/>
            </a:pPr>
            <a:r>
              <a:rPr lang="en-US" b="1" dirty="0">
                <a:solidFill>
                  <a:srgbClr val="414141"/>
                </a:solidFill>
                <a:highlight>
                  <a:srgbClr val="FFFFFF"/>
                </a:highlight>
              </a:rPr>
              <a:t>Consumer benefits</a:t>
            </a:r>
          </a:p>
          <a:p>
            <a:pPr lvl="0">
              <a:spcBef>
                <a:spcPts val="0"/>
              </a:spcBef>
              <a:buNone/>
            </a:pPr>
            <a:r>
              <a:rPr lang="en-US" dirty="0">
                <a:solidFill>
                  <a:srgbClr val="414141"/>
                </a:solidFill>
                <a:highlight>
                  <a:srgbClr val="FFFFFF"/>
                </a:highlight>
              </a:rPr>
              <a:t>Geo-spatial Maps help increase efficiency  and reduce travel time </a:t>
            </a:r>
          </a:p>
          <a:p>
            <a:pPr lvl="0">
              <a:spcBef>
                <a:spcPts val="0"/>
              </a:spcBef>
              <a:buNone/>
            </a:pPr>
            <a:endParaRPr lang="en-US" dirty="0">
              <a:solidFill>
                <a:srgbClr val="414141"/>
              </a:solidFill>
              <a:highlight>
                <a:srgbClr val="FFFFFF"/>
              </a:highlight>
            </a:endParaRPr>
          </a:p>
          <a:p>
            <a:pPr lvl="0">
              <a:spcBef>
                <a:spcPts val="0"/>
              </a:spcBef>
              <a:buNone/>
            </a:pPr>
            <a:endParaRPr lang="en-US" dirty="0">
              <a:solidFill>
                <a:srgbClr val="414141"/>
              </a:solidFill>
              <a:highlight>
                <a:srgbClr val="FFFFFF"/>
              </a:highlight>
            </a:endParaRPr>
          </a:p>
          <a:p>
            <a:pPr lvl="0">
              <a:lnSpc>
                <a:spcPct val="100000"/>
              </a:lnSpc>
              <a:spcBef>
                <a:spcPts val="0"/>
              </a:spcBef>
              <a:buNone/>
            </a:pPr>
            <a:r>
              <a:rPr lang="en-US" b="1" dirty="0">
                <a:solidFill>
                  <a:srgbClr val="414141"/>
                </a:solidFill>
                <a:highlight>
                  <a:srgbClr val="FFFFFF"/>
                </a:highlight>
              </a:rPr>
              <a:t>Business benefits</a:t>
            </a:r>
          </a:p>
          <a:p>
            <a:pPr lvl="0" rtl="0">
              <a:lnSpc>
                <a:spcPct val="100000"/>
              </a:lnSpc>
              <a:spcBef>
                <a:spcPts val="0"/>
              </a:spcBef>
              <a:buNone/>
            </a:pPr>
            <a:r>
              <a:rPr lang="en-US" dirty="0">
                <a:solidFill>
                  <a:srgbClr val="414141"/>
                </a:solidFill>
                <a:highlight>
                  <a:srgbClr val="FFFFFF"/>
                </a:highlight>
              </a:rPr>
              <a:t>Maps help make small and large businesses more visible, productive and profitable. By providing useful facts such as store hours, contact information and reviews, maps help drive sales—particularly important for small businesses that may find potential new customers without incurring additional advertising costs.</a:t>
            </a:r>
          </a:p>
        </p:txBody>
      </p:sp>
    </p:spTree>
    <p:extLst>
      <p:ext uri="{BB962C8B-B14F-4D97-AF65-F5344CB8AC3E}">
        <p14:creationId xmlns:p14="http://schemas.microsoft.com/office/powerpoint/2010/main" val="1519281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523794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dk1"/>
        </a:solidFill>
        <a:effectLst/>
      </p:bgPr>
    </p:bg>
    <p:spTree>
      <p:nvGrpSpPr>
        <p:cNvPr id="1" name="Shape 9"/>
        <p:cNvGrpSpPr/>
        <p:nvPr/>
      </p:nvGrpSpPr>
      <p:grpSpPr>
        <a:xfrm>
          <a:off x="0" y="0"/>
          <a:ext cx="0" cy="0"/>
          <a:chOff x="0" y="0"/>
          <a:chExt cx="0" cy="0"/>
        </a:xfrm>
      </p:grpSpPr>
      <p:sp>
        <p:nvSpPr>
          <p:cNvPr id="10" name="Shape 10"/>
          <p:cNvSpPr/>
          <p:nvPr/>
        </p:nvSpPr>
        <p:spPr>
          <a:xfrm>
            <a:off x="4286250" y="0"/>
            <a:ext cx="72300" cy="5143500"/>
          </a:xfrm>
          <a:prstGeom prst="rect">
            <a:avLst/>
          </a:prstGeom>
          <a:solidFill>
            <a:schemeClr val="dk2"/>
          </a:solidFill>
          <a:ln>
            <a:noFill/>
          </a:ln>
        </p:spPr>
        <p:txBody>
          <a:bodyPr wrap="square" lIns="91425" tIns="91425" rIns="91425" bIns="91425" anchor="ctr" anchorCtr="0">
            <a:noAutofit/>
          </a:bodyPr>
          <a:lstStyle/>
          <a:p>
            <a:pPr lvl="0">
              <a:spcBef>
                <a:spcPts val="0"/>
              </a:spcBef>
              <a:buNone/>
            </a:pPr>
            <a:endParaRPr/>
          </a:p>
        </p:txBody>
      </p:sp>
      <p:sp>
        <p:nvSpPr>
          <p:cNvPr id="11" name="Shape 11"/>
          <p:cNvSpPr/>
          <p:nvPr/>
        </p:nvSpPr>
        <p:spPr>
          <a:xfrm>
            <a:off x="4358475" y="0"/>
            <a:ext cx="3853200" cy="5143500"/>
          </a:xfrm>
          <a:prstGeom prst="rect">
            <a:avLst/>
          </a:prstGeom>
          <a:solidFill>
            <a:schemeClr val="accent5"/>
          </a:solidFill>
          <a:ln>
            <a:noFill/>
          </a:ln>
        </p:spPr>
        <p:txBody>
          <a:bodyPr wrap="square" lIns="91425" tIns="91425" rIns="91425" bIns="91425" anchor="ctr" anchorCtr="0">
            <a:noAutofit/>
          </a:bodyPr>
          <a:lstStyle/>
          <a:p>
            <a:pPr lvl="0">
              <a:spcBef>
                <a:spcPts val="0"/>
              </a:spcBef>
              <a:buNone/>
            </a:pPr>
            <a:endParaRPr/>
          </a:p>
        </p:txBody>
      </p:sp>
      <p:sp>
        <p:nvSpPr>
          <p:cNvPr id="12" name="Shape 12"/>
          <p:cNvSpPr txBox="1">
            <a:spLocks noGrp="1"/>
          </p:cNvSpPr>
          <p:nvPr>
            <p:ph type="ctrTitle"/>
          </p:nvPr>
        </p:nvSpPr>
        <p:spPr>
          <a:xfrm>
            <a:off x="344250" y="1403850"/>
            <a:ext cx="8455500" cy="2146800"/>
          </a:xfrm>
          <a:prstGeom prst="rect">
            <a:avLst/>
          </a:prstGeom>
          <a:solidFill>
            <a:srgbClr val="FFFFFF"/>
          </a:solidFill>
        </p:spPr>
        <p:txBody>
          <a:bodyPr wrap="square" lIns="91425" tIns="91425" rIns="91425" bIns="91425" anchor="ctr" anchorCtr="0"/>
          <a:lstStyle>
            <a:lvl1pPr lvl="0" algn="ctr">
              <a:spcBef>
                <a:spcPts val="0"/>
              </a:spcBef>
              <a:buSzPct val="100000"/>
              <a:buFont typeface="Playfair Display"/>
              <a:defRPr sz="6800" b="1">
                <a:latin typeface="Playfair Display"/>
                <a:ea typeface="Playfair Display"/>
                <a:cs typeface="Playfair Display"/>
                <a:sym typeface="Playfair Display"/>
              </a:defRPr>
            </a:lvl1pPr>
            <a:lvl2pPr lvl="1" algn="ctr">
              <a:spcBef>
                <a:spcPts val="0"/>
              </a:spcBef>
              <a:buSzPct val="100000"/>
              <a:buFont typeface="Playfair Display"/>
              <a:defRPr sz="6800" b="1">
                <a:latin typeface="Playfair Display"/>
                <a:ea typeface="Playfair Display"/>
                <a:cs typeface="Playfair Display"/>
                <a:sym typeface="Playfair Display"/>
              </a:defRPr>
            </a:lvl2pPr>
            <a:lvl3pPr lvl="2" algn="ctr">
              <a:spcBef>
                <a:spcPts val="0"/>
              </a:spcBef>
              <a:buSzPct val="100000"/>
              <a:buFont typeface="Playfair Display"/>
              <a:defRPr sz="6800" b="1">
                <a:latin typeface="Playfair Display"/>
                <a:ea typeface="Playfair Display"/>
                <a:cs typeface="Playfair Display"/>
                <a:sym typeface="Playfair Display"/>
              </a:defRPr>
            </a:lvl3pPr>
            <a:lvl4pPr lvl="3" algn="ctr">
              <a:spcBef>
                <a:spcPts val="0"/>
              </a:spcBef>
              <a:buSzPct val="100000"/>
              <a:buFont typeface="Playfair Display"/>
              <a:defRPr sz="6800" b="1">
                <a:latin typeface="Playfair Display"/>
                <a:ea typeface="Playfair Display"/>
                <a:cs typeface="Playfair Display"/>
                <a:sym typeface="Playfair Display"/>
              </a:defRPr>
            </a:lvl4pPr>
            <a:lvl5pPr lvl="4" algn="ctr">
              <a:spcBef>
                <a:spcPts val="0"/>
              </a:spcBef>
              <a:buSzPct val="100000"/>
              <a:buFont typeface="Playfair Display"/>
              <a:defRPr sz="6800" b="1">
                <a:latin typeface="Playfair Display"/>
                <a:ea typeface="Playfair Display"/>
                <a:cs typeface="Playfair Display"/>
                <a:sym typeface="Playfair Display"/>
              </a:defRPr>
            </a:lvl5pPr>
            <a:lvl6pPr lvl="5" algn="ctr">
              <a:spcBef>
                <a:spcPts val="0"/>
              </a:spcBef>
              <a:buSzPct val="100000"/>
              <a:buFont typeface="Playfair Display"/>
              <a:defRPr sz="6800" b="1">
                <a:latin typeface="Playfair Display"/>
                <a:ea typeface="Playfair Display"/>
                <a:cs typeface="Playfair Display"/>
                <a:sym typeface="Playfair Display"/>
              </a:defRPr>
            </a:lvl6pPr>
            <a:lvl7pPr lvl="6" algn="ctr">
              <a:spcBef>
                <a:spcPts val="0"/>
              </a:spcBef>
              <a:buSzPct val="100000"/>
              <a:buFont typeface="Playfair Display"/>
              <a:defRPr sz="6800" b="1">
                <a:latin typeface="Playfair Display"/>
                <a:ea typeface="Playfair Display"/>
                <a:cs typeface="Playfair Display"/>
                <a:sym typeface="Playfair Display"/>
              </a:defRPr>
            </a:lvl7pPr>
            <a:lvl8pPr lvl="7" algn="ctr">
              <a:spcBef>
                <a:spcPts val="0"/>
              </a:spcBef>
              <a:buSzPct val="100000"/>
              <a:buFont typeface="Playfair Display"/>
              <a:defRPr sz="6800" b="1">
                <a:latin typeface="Playfair Display"/>
                <a:ea typeface="Playfair Display"/>
                <a:cs typeface="Playfair Display"/>
                <a:sym typeface="Playfair Display"/>
              </a:defRPr>
            </a:lvl8pPr>
            <a:lvl9pPr lvl="8" algn="ctr">
              <a:spcBef>
                <a:spcPts val="0"/>
              </a:spcBef>
              <a:buSzPct val="100000"/>
              <a:buFont typeface="Playfair Display"/>
              <a:defRPr sz="6800" b="1">
                <a:latin typeface="Playfair Display"/>
                <a:ea typeface="Playfair Display"/>
                <a:cs typeface="Playfair Display"/>
                <a:sym typeface="Playfair Display"/>
              </a:defRPr>
            </a:lvl9pPr>
          </a:lstStyle>
          <a:p>
            <a:endParaRPr/>
          </a:p>
        </p:txBody>
      </p:sp>
      <p:sp>
        <p:nvSpPr>
          <p:cNvPr id="13" name="Shape 13"/>
          <p:cNvSpPr txBox="1">
            <a:spLocks noGrp="1"/>
          </p:cNvSpPr>
          <p:nvPr>
            <p:ph type="subTitle" idx="1"/>
          </p:nvPr>
        </p:nvSpPr>
        <p:spPr>
          <a:xfrm>
            <a:off x="344250" y="3550650"/>
            <a:ext cx="4910100" cy="577800"/>
          </a:xfrm>
          <a:prstGeom prst="rect">
            <a:avLst/>
          </a:prstGeom>
          <a:solidFill>
            <a:schemeClr val="dk2"/>
          </a:solidFill>
        </p:spPr>
        <p:txBody>
          <a:bodyPr wrap="square" lIns="91425" tIns="91425" rIns="91425" bIns="91425" anchor="ctr" anchorCtr="0"/>
          <a:lstStyle>
            <a:lvl1pPr lvl="0">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ct val="100000"/>
              <a:buFont typeface="Montserrat"/>
              <a:buNone/>
              <a:defRPr sz="2400" b="1">
                <a:solidFill>
                  <a:schemeClr val="lt1"/>
                </a:solidFill>
                <a:latin typeface="Montserrat"/>
                <a:ea typeface="Montserrat"/>
                <a:cs typeface="Montserrat"/>
                <a:sym typeface="Montserrat"/>
              </a:defRPr>
            </a:lvl9pPr>
          </a:lstStyle>
          <a:p>
            <a:endParaRPr/>
          </a:p>
        </p:txBody>
      </p:sp>
      <p:sp>
        <p:nvSpPr>
          <p:cNvPr id="14" name="Shape 14"/>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accent5"/>
        </a:solidFill>
        <a:effectLst/>
      </p:bgPr>
    </p:bg>
    <p:spTree>
      <p:nvGrpSpPr>
        <p:cNvPr id="1" name="Shape 15"/>
        <p:cNvGrpSpPr/>
        <p:nvPr/>
      </p:nvGrpSpPr>
      <p:grpSpPr>
        <a:xfrm>
          <a:off x="0" y="0"/>
          <a:ext cx="0" cy="0"/>
          <a:chOff x="0" y="0"/>
          <a:chExt cx="0" cy="0"/>
        </a:xfrm>
      </p:grpSpPr>
      <p:sp>
        <p:nvSpPr>
          <p:cNvPr id="16" name="Shape 16"/>
          <p:cNvSpPr/>
          <p:nvPr/>
        </p:nvSpPr>
        <p:spPr>
          <a:xfrm rot="5400000">
            <a:off x="4550700" y="-498600"/>
            <a:ext cx="42600" cy="8455800"/>
          </a:xfrm>
          <a:prstGeom prst="rect">
            <a:avLst/>
          </a:prstGeom>
          <a:solidFill>
            <a:schemeClr val="dk2"/>
          </a:solidFill>
          <a:ln>
            <a:noFill/>
          </a:ln>
        </p:spPr>
        <p:txBody>
          <a:bodyPr wrap="square" lIns="91425" tIns="91425" rIns="91425" bIns="91425" anchor="ctr" anchorCtr="0">
            <a:noAutofit/>
          </a:bodyPr>
          <a:lstStyle/>
          <a:p>
            <a:pPr lvl="0">
              <a:spcBef>
                <a:spcPts val="0"/>
              </a:spcBef>
              <a:buNone/>
            </a:pPr>
            <a:endParaRPr/>
          </a:p>
        </p:txBody>
      </p:sp>
      <p:sp>
        <p:nvSpPr>
          <p:cNvPr id="17" name="Shape 17"/>
          <p:cNvSpPr txBox="1">
            <a:spLocks noGrp="1"/>
          </p:cNvSpPr>
          <p:nvPr>
            <p:ph type="title"/>
          </p:nvPr>
        </p:nvSpPr>
        <p:spPr>
          <a:xfrm>
            <a:off x="344250" y="1403850"/>
            <a:ext cx="8455500" cy="2146800"/>
          </a:xfrm>
          <a:prstGeom prst="rect">
            <a:avLst/>
          </a:prstGeom>
          <a:solidFill>
            <a:srgbClr val="FFFFFF"/>
          </a:solidFill>
        </p:spPr>
        <p:txBody>
          <a:bodyPr wrap="square" lIns="91425" tIns="91425" rIns="91425" bIns="91425" anchor="ctr" anchorCtr="0"/>
          <a:lstStyle>
            <a:lvl1pPr lvl="0" algn="ctr">
              <a:spcBef>
                <a:spcPts val="0"/>
              </a:spcBef>
              <a:buSzPct val="100000"/>
              <a:buFont typeface="Playfair Display"/>
              <a:defRPr sz="4800" b="1">
                <a:latin typeface="Playfair Display"/>
                <a:ea typeface="Playfair Display"/>
                <a:cs typeface="Playfair Display"/>
                <a:sym typeface="Playfair Display"/>
              </a:defRPr>
            </a:lvl1pPr>
            <a:lvl2pPr lvl="1" algn="ctr">
              <a:spcBef>
                <a:spcPts val="0"/>
              </a:spcBef>
              <a:buSzPct val="100000"/>
              <a:buFont typeface="Playfair Display"/>
              <a:defRPr sz="4800" b="1">
                <a:latin typeface="Playfair Display"/>
                <a:ea typeface="Playfair Display"/>
                <a:cs typeface="Playfair Display"/>
                <a:sym typeface="Playfair Display"/>
              </a:defRPr>
            </a:lvl2pPr>
            <a:lvl3pPr lvl="2" algn="ctr">
              <a:spcBef>
                <a:spcPts val="0"/>
              </a:spcBef>
              <a:buSzPct val="100000"/>
              <a:buFont typeface="Playfair Display"/>
              <a:defRPr sz="4800" b="1">
                <a:latin typeface="Playfair Display"/>
                <a:ea typeface="Playfair Display"/>
                <a:cs typeface="Playfair Display"/>
                <a:sym typeface="Playfair Display"/>
              </a:defRPr>
            </a:lvl3pPr>
            <a:lvl4pPr lvl="3" algn="ctr">
              <a:spcBef>
                <a:spcPts val="0"/>
              </a:spcBef>
              <a:buSzPct val="100000"/>
              <a:buFont typeface="Playfair Display"/>
              <a:defRPr sz="4800" b="1">
                <a:latin typeface="Playfair Display"/>
                <a:ea typeface="Playfair Display"/>
                <a:cs typeface="Playfair Display"/>
                <a:sym typeface="Playfair Display"/>
              </a:defRPr>
            </a:lvl4pPr>
            <a:lvl5pPr lvl="4" algn="ctr">
              <a:spcBef>
                <a:spcPts val="0"/>
              </a:spcBef>
              <a:buSzPct val="100000"/>
              <a:buFont typeface="Playfair Display"/>
              <a:defRPr sz="4800" b="1">
                <a:latin typeface="Playfair Display"/>
                <a:ea typeface="Playfair Display"/>
                <a:cs typeface="Playfair Display"/>
                <a:sym typeface="Playfair Display"/>
              </a:defRPr>
            </a:lvl5pPr>
            <a:lvl6pPr lvl="5" algn="ctr">
              <a:spcBef>
                <a:spcPts val="0"/>
              </a:spcBef>
              <a:buSzPct val="100000"/>
              <a:buFont typeface="Playfair Display"/>
              <a:defRPr sz="4800" b="1">
                <a:latin typeface="Playfair Display"/>
                <a:ea typeface="Playfair Display"/>
                <a:cs typeface="Playfair Display"/>
                <a:sym typeface="Playfair Display"/>
              </a:defRPr>
            </a:lvl6pPr>
            <a:lvl7pPr lvl="6" algn="ctr">
              <a:spcBef>
                <a:spcPts val="0"/>
              </a:spcBef>
              <a:buSzPct val="100000"/>
              <a:buFont typeface="Playfair Display"/>
              <a:defRPr sz="4800" b="1">
                <a:latin typeface="Playfair Display"/>
                <a:ea typeface="Playfair Display"/>
                <a:cs typeface="Playfair Display"/>
                <a:sym typeface="Playfair Display"/>
              </a:defRPr>
            </a:lvl7pPr>
            <a:lvl8pPr lvl="7" algn="ctr">
              <a:spcBef>
                <a:spcPts val="0"/>
              </a:spcBef>
              <a:buSzPct val="100000"/>
              <a:buFont typeface="Playfair Display"/>
              <a:defRPr sz="4800" b="1">
                <a:latin typeface="Playfair Display"/>
                <a:ea typeface="Playfair Display"/>
                <a:cs typeface="Playfair Display"/>
                <a:sym typeface="Playfair Display"/>
              </a:defRPr>
            </a:lvl8pPr>
            <a:lvl9pPr lvl="8" algn="ctr">
              <a:spcBef>
                <a:spcPts val="0"/>
              </a:spcBef>
              <a:buSzPct val="100000"/>
              <a:buFont typeface="Playfair Display"/>
              <a:defRPr sz="4800" b="1">
                <a:latin typeface="Playfair Display"/>
                <a:ea typeface="Playfair Display"/>
                <a:cs typeface="Playfair Display"/>
                <a:sym typeface="Playfair Display"/>
              </a:defRPr>
            </a:lvl9pPr>
          </a:lstStyle>
          <a:p>
            <a:endParaRPr/>
          </a:p>
        </p:txBody>
      </p:sp>
      <p:sp>
        <p:nvSpPr>
          <p:cNvPr id="18" name="Shape 18"/>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1" name="Shape 21"/>
          <p:cNvSpPr txBox="1">
            <a:spLocks noGrp="1"/>
          </p:cNvSpPr>
          <p:nvPr>
            <p:ph type="body" idx="1"/>
          </p:nvPr>
        </p:nvSpPr>
        <p:spPr>
          <a:xfrm>
            <a:off x="311700" y="1234075"/>
            <a:ext cx="8520600" cy="33348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3"/>
        <p:cNvGrpSpPr/>
        <p:nvPr/>
      </p:nvGrpSpPr>
      <p:grpSpPr>
        <a:xfrm>
          <a:off x="0" y="0"/>
          <a:ext cx="0" cy="0"/>
          <a:chOff x="0" y="0"/>
          <a:chExt cx="0" cy="0"/>
        </a:xfrm>
      </p:grpSpPr>
      <p:sp>
        <p:nvSpPr>
          <p:cNvPr id="24" name="Shape 24"/>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5" name="Shape 25"/>
          <p:cNvSpPr txBox="1">
            <a:spLocks noGrp="1"/>
          </p:cNvSpPr>
          <p:nvPr>
            <p:ph type="body" idx="1"/>
          </p:nvPr>
        </p:nvSpPr>
        <p:spPr>
          <a:xfrm>
            <a:off x="311700" y="1234050"/>
            <a:ext cx="3999900" cy="3334800"/>
          </a:xfrm>
          <a:prstGeom prst="rect">
            <a:avLst/>
          </a:prstGeom>
        </p:spPr>
        <p:txBody>
          <a:bodyPr wrap="square"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6" name="Shape 26"/>
          <p:cNvSpPr txBox="1">
            <a:spLocks noGrp="1"/>
          </p:cNvSpPr>
          <p:nvPr>
            <p:ph type="body" idx="2"/>
          </p:nvPr>
        </p:nvSpPr>
        <p:spPr>
          <a:xfrm>
            <a:off x="4832400" y="1234050"/>
            <a:ext cx="3999900" cy="3334800"/>
          </a:xfrm>
          <a:prstGeom prst="rect">
            <a:avLst/>
          </a:prstGeom>
        </p:spPr>
        <p:txBody>
          <a:bodyPr wrap="square"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7" name="Shape 27"/>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0" name="Shape 30"/>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311700" y="555600"/>
            <a:ext cx="2808000" cy="755700"/>
          </a:xfrm>
          <a:prstGeom prst="rect">
            <a:avLst/>
          </a:prstGeom>
        </p:spPr>
        <p:txBody>
          <a:bodyPr wrap="square"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3" name="Shape 33"/>
          <p:cNvSpPr txBox="1">
            <a:spLocks noGrp="1"/>
          </p:cNvSpPr>
          <p:nvPr>
            <p:ph type="body" idx="1"/>
          </p:nvPr>
        </p:nvSpPr>
        <p:spPr>
          <a:xfrm>
            <a:off x="311700" y="1389600"/>
            <a:ext cx="2808000" cy="3179400"/>
          </a:xfrm>
          <a:prstGeom prst="rect">
            <a:avLst/>
          </a:prstGeom>
        </p:spPr>
        <p:txBody>
          <a:bodyPr wrap="square"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4" name="Shape 34"/>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bg>
      <p:bgPr>
        <a:solidFill>
          <a:schemeClr val="accent3"/>
        </a:solidFill>
        <a:effectLst/>
      </p:bgPr>
    </p:bg>
    <p:spTree>
      <p:nvGrpSpPr>
        <p:cNvPr id="1" name="Shape 35"/>
        <p:cNvGrpSpPr/>
        <p:nvPr/>
      </p:nvGrpSpPr>
      <p:grpSpPr>
        <a:xfrm>
          <a:off x="0" y="0"/>
          <a:ext cx="0" cy="0"/>
          <a:chOff x="0" y="0"/>
          <a:chExt cx="0" cy="0"/>
        </a:xfrm>
      </p:grpSpPr>
      <p:sp>
        <p:nvSpPr>
          <p:cNvPr id="36" name="Shape 36"/>
          <p:cNvSpPr txBox="1">
            <a:spLocks noGrp="1"/>
          </p:cNvSpPr>
          <p:nvPr>
            <p:ph type="title"/>
          </p:nvPr>
        </p:nvSpPr>
        <p:spPr>
          <a:xfrm>
            <a:off x="490250" y="526350"/>
            <a:ext cx="5618700" cy="4090800"/>
          </a:xfrm>
          <a:prstGeom prst="rect">
            <a:avLst/>
          </a:prstGeom>
        </p:spPr>
        <p:txBody>
          <a:bodyPr wrap="square" lIns="91425" tIns="91425" rIns="91425" bIns="91425" anchor="ctr" anchorCtr="0"/>
          <a:lstStyle>
            <a:lvl1pPr lvl="0">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1pPr>
            <a:lvl2pPr lvl="1">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2pPr>
            <a:lvl3pPr lvl="2">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3pPr>
            <a:lvl4pPr lvl="3">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4pPr>
            <a:lvl5pPr lvl="4">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5pPr>
            <a:lvl6pPr lvl="5">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6pPr>
            <a:lvl7pPr lvl="6">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7pPr>
            <a:lvl8pPr lvl="7">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8pPr>
            <a:lvl9pPr lvl="8">
              <a:spcBef>
                <a:spcPts val="0"/>
              </a:spcBef>
              <a:buClr>
                <a:schemeClr val="lt1"/>
              </a:buClr>
              <a:buSzPct val="100000"/>
              <a:buFont typeface="Playfair Display"/>
              <a:defRPr sz="5400">
                <a:solidFill>
                  <a:schemeClr val="lt1"/>
                </a:solidFill>
                <a:latin typeface="Playfair Display"/>
                <a:ea typeface="Playfair Display"/>
                <a:cs typeface="Playfair Display"/>
                <a:sym typeface="Playfair Display"/>
              </a:defRPr>
            </a:lvl9pPr>
          </a:lstStyle>
          <a:p>
            <a:endParaRPr/>
          </a:p>
        </p:txBody>
      </p:sp>
      <p:sp>
        <p:nvSpPr>
          <p:cNvPr id="37" name="Shape 37"/>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solidFill>
                  <a:schemeClr val="lt1"/>
                </a:solidFill>
              </a:rPr>
              <a:t>‹#›</a:t>
            </a:fld>
            <a:endParaRPr lang="en">
              <a:solidFill>
                <a:schemeClr val="lt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8"/>
        <p:cNvGrpSpPr/>
        <p:nvPr/>
      </p:nvGrpSpPr>
      <p:grpSpPr>
        <a:xfrm>
          <a:off x="0" y="0"/>
          <a:ext cx="0" cy="0"/>
          <a:chOff x="0" y="0"/>
          <a:chExt cx="0" cy="0"/>
        </a:xfrm>
      </p:grpSpPr>
      <p:sp>
        <p:nvSpPr>
          <p:cNvPr id="39" name="Shape 39"/>
          <p:cNvSpPr/>
          <p:nvPr/>
        </p:nvSpPr>
        <p:spPr>
          <a:xfrm>
            <a:off x="4572000" y="-75"/>
            <a:ext cx="4572000" cy="5143500"/>
          </a:xfrm>
          <a:prstGeom prst="rect">
            <a:avLst/>
          </a:prstGeom>
          <a:solidFill>
            <a:schemeClr val="dk1"/>
          </a:solidFill>
          <a:ln>
            <a:noFill/>
          </a:ln>
        </p:spPr>
        <p:txBody>
          <a:bodyPr wrap="square" lIns="91425" tIns="91425" rIns="91425" bIns="91425" anchor="ctr" anchorCtr="0">
            <a:noAutofit/>
          </a:bodyPr>
          <a:lstStyle/>
          <a:p>
            <a:pPr lvl="0">
              <a:spcBef>
                <a:spcPts val="0"/>
              </a:spcBef>
              <a:buNone/>
            </a:pPr>
            <a:endParaRPr/>
          </a:p>
        </p:txBody>
      </p:sp>
      <p:cxnSp>
        <p:nvCxnSpPr>
          <p:cNvPr id="40" name="Shape 40"/>
          <p:cNvCxnSpPr/>
          <p:nvPr/>
        </p:nvCxnSpPr>
        <p:spPr>
          <a:xfrm>
            <a:off x="5029675" y="4495500"/>
            <a:ext cx="468300" cy="0"/>
          </a:xfrm>
          <a:prstGeom prst="straightConnector1">
            <a:avLst/>
          </a:prstGeom>
          <a:noFill/>
          <a:ln w="19050" cap="flat" cmpd="sng">
            <a:solidFill>
              <a:schemeClr val="dk2"/>
            </a:solidFill>
            <a:prstDash val="solid"/>
            <a:round/>
            <a:headEnd type="none" w="med" len="med"/>
            <a:tailEnd type="none" w="med" len="med"/>
          </a:ln>
        </p:spPr>
      </p:cxnSp>
      <p:sp>
        <p:nvSpPr>
          <p:cNvPr id="41" name="Shape 41"/>
          <p:cNvSpPr txBox="1">
            <a:spLocks noGrp="1"/>
          </p:cNvSpPr>
          <p:nvPr>
            <p:ph type="title"/>
          </p:nvPr>
        </p:nvSpPr>
        <p:spPr>
          <a:xfrm>
            <a:off x="265500" y="1081675"/>
            <a:ext cx="4045200" cy="1786200"/>
          </a:xfrm>
          <a:prstGeom prst="rect">
            <a:avLst/>
          </a:prstGeom>
        </p:spPr>
        <p:txBody>
          <a:bodyPr wrap="square"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42" name="Shape 42"/>
          <p:cNvSpPr txBox="1">
            <a:spLocks noGrp="1"/>
          </p:cNvSpPr>
          <p:nvPr>
            <p:ph type="subTitle" idx="1"/>
          </p:nvPr>
        </p:nvSpPr>
        <p:spPr>
          <a:xfrm>
            <a:off x="265500" y="2921401"/>
            <a:ext cx="4045200" cy="1345500"/>
          </a:xfrm>
          <a:prstGeom prst="rect">
            <a:avLst/>
          </a:prstGeom>
        </p:spPr>
        <p:txBody>
          <a:bodyPr wrap="square"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43" name="Shape 43"/>
          <p:cNvSpPr txBox="1">
            <a:spLocks noGrp="1"/>
          </p:cNvSpPr>
          <p:nvPr>
            <p:ph type="body" idx="2"/>
          </p:nvPr>
        </p:nvSpPr>
        <p:spPr>
          <a:xfrm>
            <a:off x="4939500" y="724200"/>
            <a:ext cx="3837000" cy="3695100"/>
          </a:xfrm>
          <a:prstGeom prst="rect">
            <a:avLst/>
          </a:prstGeom>
        </p:spPr>
        <p:txBody>
          <a:bodyPr wrap="square"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5"/>
        <p:cNvGrpSpPr/>
        <p:nvPr/>
      </p:nvGrpSpPr>
      <p:grpSpPr>
        <a:xfrm>
          <a:off x="0" y="0"/>
          <a:ext cx="0" cy="0"/>
          <a:chOff x="0" y="0"/>
          <a:chExt cx="0" cy="0"/>
        </a:xfrm>
      </p:grpSpPr>
      <p:sp>
        <p:nvSpPr>
          <p:cNvPr id="46" name="Shape 46"/>
          <p:cNvSpPr txBox="1">
            <a:spLocks noGrp="1"/>
          </p:cNvSpPr>
          <p:nvPr>
            <p:ph type="body" idx="1"/>
          </p:nvPr>
        </p:nvSpPr>
        <p:spPr>
          <a:xfrm>
            <a:off x="311700" y="4230575"/>
            <a:ext cx="5998800" cy="605100"/>
          </a:xfrm>
          <a:prstGeom prst="rect">
            <a:avLst/>
          </a:prstGeom>
        </p:spPr>
        <p:txBody>
          <a:bodyPr wrap="square" lIns="91425" tIns="91425" rIns="91425" bIns="91425" anchor="ctr" anchorCtr="0"/>
          <a:lstStyle>
            <a:lvl1pPr lvl="0">
              <a:lnSpc>
                <a:spcPct val="100000"/>
              </a:lnSpc>
              <a:spcBef>
                <a:spcPts val="0"/>
              </a:spcBef>
              <a:spcAft>
                <a:spcPts val="0"/>
              </a:spcAft>
              <a:buNone/>
              <a:defRPr/>
            </a:lvl1pPr>
          </a:lstStyle>
          <a:p>
            <a:endParaRPr/>
          </a:p>
        </p:txBody>
      </p:sp>
      <p:sp>
        <p:nvSpPr>
          <p:cNvPr id="47" name="Shape 47"/>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8"/>
        <p:cNvGrpSpPr/>
        <p:nvPr/>
      </p:nvGrpSpPr>
      <p:grpSpPr>
        <a:xfrm>
          <a:off x="0" y="0"/>
          <a:ext cx="0" cy="0"/>
          <a:chOff x="0" y="0"/>
          <a:chExt cx="0" cy="0"/>
        </a:xfrm>
      </p:grpSpPr>
      <p:sp>
        <p:nvSpPr>
          <p:cNvPr id="49" name="Shape 49"/>
          <p:cNvSpPr txBox="1">
            <a:spLocks noGrp="1"/>
          </p:cNvSpPr>
          <p:nvPr>
            <p:ph type="title"/>
          </p:nvPr>
        </p:nvSpPr>
        <p:spPr>
          <a:xfrm>
            <a:off x="311700" y="999925"/>
            <a:ext cx="8520600" cy="2146200"/>
          </a:xfrm>
          <a:prstGeom prst="rect">
            <a:avLst/>
          </a:prstGeom>
        </p:spPr>
        <p:txBody>
          <a:bodyPr wrap="square" lIns="91425" tIns="91425" rIns="91425" bIns="91425" anchor="b" anchorCtr="0"/>
          <a:lstStyle>
            <a:lvl1pPr lvl="0" algn="ctr">
              <a:spcBef>
                <a:spcPts val="0"/>
              </a:spcBef>
              <a:buSzPct val="100000"/>
              <a:buFont typeface="Montserrat"/>
              <a:defRPr sz="14000">
                <a:latin typeface="Montserrat"/>
                <a:ea typeface="Montserrat"/>
                <a:cs typeface="Montserrat"/>
                <a:sym typeface="Montserrat"/>
              </a:defRPr>
            </a:lvl1pPr>
            <a:lvl2pPr lvl="1" algn="ctr">
              <a:spcBef>
                <a:spcPts val="0"/>
              </a:spcBef>
              <a:buSzPct val="100000"/>
              <a:buFont typeface="Montserrat"/>
              <a:defRPr sz="14000">
                <a:latin typeface="Montserrat"/>
                <a:ea typeface="Montserrat"/>
                <a:cs typeface="Montserrat"/>
                <a:sym typeface="Montserrat"/>
              </a:defRPr>
            </a:lvl2pPr>
            <a:lvl3pPr lvl="2" algn="ctr">
              <a:spcBef>
                <a:spcPts val="0"/>
              </a:spcBef>
              <a:buSzPct val="100000"/>
              <a:buFont typeface="Montserrat"/>
              <a:defRPr sz="14000">
                <a:latin typeface="Montserrat"/>
                <a:ea typeface="Montserrat"/>
                <a:cs typeface="Montserrat"/>
                <a:sym typeface="Montserrat"/>
              </a:defRPr>
            </a:lvl3pPr>
            <a:lvl4pPr lvl="3" algn="ctr">
              <a:spcBef>
                <a:spcPts val="0"/>
              </a:spcBef>
              <a:buSzPct val="100000"/>
              <a:buFont typeface="Montserrat"/>
              <a:defRPr sz="14000">
                <a:latin typeface="Montserrat"/>
                <a:ea typeface="Montserrat"/>
                <a:cs typeface="Montserrat"/>
                <a:sym typeface="Montserrat"/>
              </a:defRPr>
            </a:lvl4pPr>
            <a:lvl5pPr lvl="4" algn="ctr">
              <a:spcBef>
                <a:spcPts val="0"/>
              </a:spcBef>
              <a:buSzPct val="100000"/>
              <a:buFont typeface="Montserrat"/>
              <a:defRPr sz="14000">
                <a:latin typeface="Montserrat"/>
                <a:ea typeface="Montserrat"/>
                <a:cs typeface="Montserrat"/>
                <a:sym typeface="Montserrat"/>
              </a:defRPr>
            </a:lvl5pPr>
            <a:lvl6pPr lvl="5" algn="ctr">
              <a:spcBef>
                <a:spcPts val="0"/>
              </a:spcBef>
              <a:buSzPct val="100000"/>
              <a:buFont typeface="Montserrat"/>
              <a:defRPr sz="14000">
                <a:latin typeface="Montserrat"/>
                <a:ea typeface="Montserrat"/>
                <a:cs typeface="Montserrat"/>
                <a:sym typeface="Montserrat"/>
              </a:defRPr>
            </a:lvl6pPr>
            <a:lvl7pPr lvl="6" algn="ctr">
              <a:spcBef>
                <a:spcPts val="0"/>
              </a:spcBef>
              <a:buSzPct val="100000"/>
              <a:buFont typeface="Montserrat"/>
              <a:defRPr sz="14000">
                <a:latin typeface="Montserrat"/>
                <a:ea typeface="Montserrat"/>
                <a:cs typeface="Montserrat"/>
                <a:sym typeface="Montserrat"/>
              </a:defRPr>
            </a:lvl7pPr>
            <a:lvl8pPr lvl="7" algn="ctr">
              <a:spcBef>
                <a:spcPts val="0"/>
              </a:spcBef>
              <a:buSzPct val="100000"/>
              <a:buFont typeface="Montserrat"/>
              <a:defRPr sz="14000">
                <a:latin typeface="Montserrat"/>
                <a:ea typeface="Montserrat"/>
                <a:cs typeface="Montserrat"/>
                <a:sym typeface="Montserrat"/>
              </a:defRPr>
            </a:lvl8pPr>
            <a:lvl9pPr lvl="8" algn="ctr">
              <a:spcBef>
                <a:spcPts val="0"/>
              </a:spcBef>
              <a:buSzPct val="100000"/>
              <a:buFont typeface="Montserrat"/>
              <a:defRPr sz="14000">
                <a:latin typeface="Montserrat"/>
                <a:ea typeface="Montserrat"/>
                <a:cs typeface="Montserrat"/>
                <a:sym typeface="Montserrat"/>
              </a:defRPr>
            </a:lvl9pPr>
          </a:lstStyle>
          <a:p>
            <a:endParaRPr/>
          </a:p>
        </p:txBody>
      </p:sp>
      <p:sp>
        <p:nvSpPr>
          <p:cNvPr id="50" name="Shape 50"/>
          <p:cNvSpPr txBox="1">
            <a:spLocks noGrp="1"/>
          </p:cNvSpPr>
          <p:nvPr>
            <p:ph type="body" idx="1"/>
          </p:nvPr>
        </p:nvSpPr>
        <p:spPr>
          <a:xfrm>
            <a:off x="311700" y="3228425"/>
            <a:ext cx="8520600" cy="1300800"/>
          </a:xfrm>
          <a:prstGeom prst="rect">
            <a:avLst/>
          </a:prstGeom>
        </p:spPr>
        <p:txBody>
          <a:bodyPr wrap="square"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51" name="Shape 51"/>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sp>
        <p:nvSpPr>
          <p:cNvPr id="53" name="Shape 53"/>
          <p:cNvSpPr txBox="1">
            <a:spLocks noGrp="1"/>
          </p:cNvSpPr>
          <p:nvPr>
            <p:ph type="sldNum" idx="12"/>
          </p:nvPr>
        </p:nvSpPr>
        <p:spPr>
          <a:xfrm>
            <a:off x="8497999" y="4688759"/>
            <a:ext cx="548700" cy="393600"/>
          </a:xfrm>
          <a:prstGeom prst="rect">
            <a:avLst/>
          </a:prstGeom>
        </p:spPr>
        <p:txBody>
          <a:bodyPr wrap="square"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op">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spcBef>
                <a:spcPts val="0"/>
              </a:spcBef>
              <a:buClr>
                <a:schemeClr val="dk2"/>
              </a:buClr>
              <a:buSzPct val="100000"/>
              <a:buFont typeface="Oswald"/>
              <a:buNone/>
              <a:defRPr sz="3000">
                <a:solidFill>
                  <a:schemeClr val="dk2"/>
                </a:solidFill>
                <a:latin typeface="Oswald"/>
                <a:ea typeface="Oswald"/>
                <a:cs typeface="Oswald"/>
                <a:sym typeface="Oswald"/>
              </a:defRPr>
            </a:lvl1pPr>
            <a:lvl2pPr lvl="1">
              <a:spcBef>
                <a:spcPts val="0"/>
              </a:spcBef>
              <a:buClr>
                <a:schemeClr val="dk2"/>
              </a:buClr>
              <a:buSzPct val="100000"/>
              <a:buFont typeface="Oswald"/>
              <a:buNone/>
              <a:defRPr sz="3000">
                <a:solidFill>
                  <a:schemeClr val="dk2"/>
                </a:solidFill>
                <a:latin typeface="Oswald"/>
                <a:ea typeface="Oswald"/>
                <a:cs typeface="Oswald"/>
                <a:sym typeface="Oswald"/>
              </a:defRPr>
            </a:lvl2pPr>
            <a:lvl3pPr lvl="2">
              <a:spcBef>
                <a:spcPts val="0"/>
              </a:spcBef>
              <a:buClr>
                <a:schemeClr val="dk2"/>
              </a:buClr>
              <a:buSzPct val="100000"/>
              <a:buFont typeface="Oswald"/>
              <a:buNone/>
              <a:defRPr sz="3000">
                <a:solidFill>
                  <a:schemeClr val="dk2"/>
                </a:solidFill>
                <a:latin typeface="Oswald"/>
                <a:ea typeface="Oswald"/>
                <a:cs typeface="Oswald"/>
                <a:sym typeface="Oswald"/>
              </a:defRPr>
            </a:lvl3pPr>
            <a:lvl4pPr lvl="3">
              <a:spcBef>
                <a:spcPts val="0"/>
              </a:spcBef>
              <a:buClr>
                <a:schemeClr val="dk2"/>
              </a:buClr>
              <a:buSzPct val="100000"/>
              <a:buFont typeface="Oswald"/>
              <a:buNone/>
              <a:defRPr sz="3000">
                <a:solidFill>
                  <a:schemeClr val="dk2"/>
                </a:solidFill>
                <a:latin typeface="Oswald"/>
                <a:ea typeface="Oswald"/>
                <a:cs typeface="Oswald"/>
                <a:sym typeface="Oswald"/>
              </a:defRPr>
            </a:lvl4pPr>
            <a:lvl5pPr lvl="4">
              <a:spcBef>
                <a:spcPts val="0"/>
              </a:spcBef>
              <a:buClr>
                <a:schemeClr val="dk2"/>
              </a:buClr>
              <a:buSzPct val="100000"/>
              <a:buFont typeface="Oswald"/>
              <a:buNone/>
              <a:defRPr sz="3000">
                <a:solidFill>
                  <a:schemeClr val="dk2"/>
                </a:solidFill>
                <a:latin typeface="Oswald"/>
                <a:ea typeface="Oswald"/>
                <a:cs typeface="Oswald"/>
                <a:sym typeface="Oswald"/>
              </a:defRPr>
            </a:lvl5pPr>
            <a:lvl6pPr lvl="5">
              <a:spcBef>
                <a:spcPts val="0"/>
              </a:spcBef>
              <a:buClr>
                <a:schemeClr val="dk2"/>
              </a:buClr>
              <a:buSzPct val="100000"/>
              <a:buFont typeface="Oswald"/>
              <a:buNone/>
              <a:defRPr sz="3000">
                <a:solidFill>
                  <a:schemeClr val="dk2"/>
                </a:solidFill>
                <a:latin typeface="Oswald"/>
                <a:ea typeface="Oswald"/>
                <a:cs typeface="Oswald"/>
                <a:sym typeface="Oswald"/>
              </a:defRPr>
            </a:lvl6pPr>
            <a:lvl7pPr lvl="6">
              <a:spcBef>
                <a:spcPts val="0"/>
              </a:spcBef>
              <a:buClr>
                <a:schemeClr val="dk2"/>
              </a:buClr>
              <a:buSzPct val="100000"/>
              <a:buFont typeface="Oswald"/>
              <a:buNone/>
              <a:defRPr sz="3000">
                <a:solidFill>
                  <a:schemeClr val="dk2"/>
                </a:solidFill>
                <a:latin typeface="Oswald"/>
                <a:ea typeface="Oswald"/>
                <a:cs typeface="Oswald"/>
                <a:sym typeface="Oswald"/>
              </a:defRPr>
            </a:lvl7pPr>
            <a:lvl8pPr lvl="7">
              <a:spcBef>
                <a:spcPts val="0"/>
              </a:spcBef>
              <a:buClr>
                <a:schemeClr val="dk2"/>
              </a:buClr>
              <a:buSzPct val="100000"/>
              <a:buFont typeface="Oswald"/>
              <a:buNone/>
              <a:defRPr sz="3000">
                <a:solidFill>
                  <a:schemeClr val="dk2"/>
                </a:solidFill>
                <a:latin typeface="Oswald"/>
                <a:ea typeface="Oswald"/>
                <a:cs typeface="Oswald"/>
                <a:sym typeface="Oswald"/>
              </a:defRPr>
            </a:lvl8pPr>
            <a:lvl9pPr lvl="8">
              <a:spcBef>
                <a:spcPts val="0"/>
              </a:spcBef>
              <a:buClr>
                <a:schemeClr val="dk2"/>
              </a:buClr>
              <a:buSzPct val="100000"/>
              <a:buFont typeface="Oswald"/>
              <a:buNone/>
              <a:defRPr sz="3000">
                <a:solidFill>
                  <a:schemeClr val="dk2"/>
                </a:solidFill>
                <a:latin typeface="Oswald"/>
                <a:ea typeface="Oswald"/>
                <a:cs typeface="Oswald"/>
                <a:sym typeface="Oswald"/>
              </a:defRPr>
            </a:lvl9pPr>
          </a:lstStyle>
          <a:p>
            <a:endParaRPr/>
          </a:p>
        </p:txBody>
      </p:sp>
      <p:sp>
        <p:nvSpPr>
          <p:cNvPr id="7" name="Shape 7"/>
          <p:cNvSpPr txBox="1">
            <a:spLocks noGrp="1"/>
          </p:cNvSpPr>
          <p:nvPr>
            <p:ph type="body" idx="1"/>
          </p:nvPr>
        </p:nvSpPr>
        <p:spPr>
          <a:xfrm>
            <a:off x="311700" y="1234075"/>
            <a:ext cx="8520600" cy="3334800"/>
          </a:xfrm>
          <a:prstGeom prst="rect">
            <a:avLst/>
          </a:prstGeom>
          <a:noFill/>
          <a:ln>
            <a:noFill/>
          </a:ln>
        </p:spPr>
        <p:txBody>
          <a:bodyPr wrap="square" lIns="91425" tIns="91425" rIns="91425" bIns="91425" anchor="t" anchorCtr="0"/>
          <a:lstStyle>
            <a:lvl1pPr lvl="0">
              <a:lnSpc>
                <a:spcPct val="115000"/>
              </a:lnSpc>
              <a:spcBef>
                <a:spcPts val="0"/>
              </a:spcBef>
              <a:spcAft>
                <a:spcPts val="1600"/>
              </a:spcAft>
              <a:buClr>
                <a:schemeClr val="dk2"/>
              </a:buClr>
              <a:buSzPct val="100000"/>
              <a:buFont typeface="Playfair Display"/>
              <a:buChar char="●"/>
              <a:defRPr sz="1800">
                <a:solidFill>
                  <a:schemeClr val="dk2"/>
                </a:solidFill>
                <a:latin typeface="Playfair Display"/>
                <a:ea typeface="Playfair Display"/>
                <a:cs typeface="Playfair Display"/>
                <a:sym typeface="Playfair Display"/>
              </a:defRPr>
            </a:lvl1pPr>
            <a:lvl2pPr lvl="1">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2pPr>
            <a:lvl3pPr lvl="2">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3pPr>
            <a:lvl4pPr lvl="3">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4pPr>
            <a:lvl5pPr lvl="4">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5pPr>
            <a:lvl6pPr lvl="5">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6pPr>
            <a:lvl7pPr lvl="6">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7pPr>
            <a:lvl8pPr lvl="7">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8pPr>
            <a:lvl9pPr lvl="8">
              <a:lnSpc>
                <a:spcPct val="115000"/>
              </a:lnSpc>
              <a:spcBef>
                <a:spcPts val="0"/>
              </a:spcBef>
              <a:spcAft>
                <a:spcPts val="1600"/>
              </a:spcAft>
              <a:buClr>
                <a:schemeClr val="dk2"/>
              </a:buClr>
              <a:buFont typeface="Playfair Display"/>
              <a:buChar char="■"/>
              <a:defRPr>
                <a:solidFill>
                  <a:schemeClr val="dk2"/>
                </a:solidFill>
                <a:latin typeface="Playfair Display"/>
                <a:ea typeface="Playfair Display"/>
                <a:cs typeface="Playfair Display"/>
                <a:sym typeface="Playfair Display"/>
              </a:defRPr>
            </a:lvl9pPr>
          </a:lstStyle>
          <a:p>
            <a:endParaRPr/>
          </a:p>
        </p:txBody>
      </p:sp>
      <p:sp>
        <p:nvSpPr>
          <p:cNvPr id="8" name="Shape 8"/>
          <p:cNvSpPr txBox="1">
            <a:spLocks noGrp="1"/>
          </p:cNvSpPr>
          <p:nvPr>
            <p:ph type="sldNum" idx="12"/>
          </p:nvPr>
        </p:nvSpPr>
        <p:spPr>
          <a:xfrm>
            <a:off x="8497999" y="4688759"/>
            <a:ext cx="548700" cy="393600"/>
          </a:xfrm>
          <a:prstGeom prst="rect">
            <a:avLst/>
          </a:prstGeom>
          <a:noFill/>
          <a:ln>
            <a:noFill/>
          </a:ln>
        </p:spPr>
        <p:txBody>
          <a:bodyPr wrap="square" lIns="91425" tIns="91425" rIns="91425" bIns="91425" anchor="ctr" anchorCtr="0">
            <a:noAutofit/>
          </a:bodyPr>
          <a:lstStyle/>
          <a:p>
            <a:pPr lvl="0" algn="r">
              <a:spcBef>
                <a:spcPts val="0"/>
              </a:spcBef>
              <a:buNone/>
            </a:pPr>
            <a:fld id="{00000000-1234-1234-1234-123412341234}" type="slidenum">
              <a:rPr lang="en" sz="1000">
                <a:solidFill>
                  <a:schemeClr val="dk2"/>
                </a:solidFill>
                <a:latin typeface="Playfair Display"/>
                <a:ea typeface="Playfair Display"/>
                <a:cs typeface="Playfair Display"/>
                <a:sym typeface="Playfair Display"/>
              </a:rPr>
              <a:t>‹#›</a:t>
            </a:fld>
            <a:endParaRPr lang="en" sz="1000">
              <a:solidFill>
                <a:schemeClr val="dk2"/>
              </a:solidFill>
              <a:latin typeface="Playfair Display"/>
              <a:ea typeface="Playfair Display"/>
              <a:cs typeface="Playfair Display"/>
              <a:sym typeface="Playfair Display"/>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97" y="-985"/>
            <a:ext cx="9144793" cy="5145470"/>
          </a:xfrm>
          <a:prstGeom prst="rect">
            <a:avLst/>
          </a:prstGeom>
        </p:spPr>
      </p:pic>
      <p:pic>
        <p:nvPicPr>
          <p:cNvPr id="59" name="Shape 59" descr="logo.png"/>
          <p:cNvPicPr preferRelativeResize="0"/>
          <p:nvPr/>
        </p:nvPicPr>
        <p:blipFill>
          <a:blip r:embed="rId4">
            <a:alphaModFix/>
          </a:blip>
          <a:stretch>
            <a:fillRect/>
          </a:stretch>
        </p:blipFill>
        <p:spPr>
          <a:xfrm>
            <a:off x="344550" y="637754"/>
            <a:ext cx="1583375" cy="1629925"/>
          </a:xfrm>
          <a:prstGeom prst="rect">
            <a:avLst/>
          </a:prstGeom>
          <a:noFill/>
          <a:ln>
            <a:noFill/>
          </a:ln>
        </p:spPr>
      </p:pic>
      <p:sp>
        <p:nvSpPr>
          <p:cNvPr id="61" name="Shape 61"/>
          <p:cNvSpPr txBox="1"/>
          <p:nvPr/>
        </p:nvSpPr>
        <p:spPr>
          <a:xfrm>
            <a:off x="1792174" y="637754"/>
            <a:ext cx="6327000" cy="603000"/>
          </a:xfrm>
          <a:prstGeom prst="rect">
            <a:avLst/>
          </a:prstGeom>
          <a:noFill/>
          <a:ln>
            <a:noFill/>
          </a:ln>
        </p:spPr>
        <p:txBody>
          <a:bodyPr wrap="square" lIns="91425" tIns="91425" rIns="91425" bIns="91425" anchor="t" anchorCtr="0">
            <a:noAutofit/>
          </a:bodyPr>
          <a:lstStyle/>
          <a:p>
            <a:pPr lvl="0" algn="ctr" rtl="0">
              <a:spcBef>
                <a:spcPts val="0"/>
              </a:spcBef>
              <a:buNone/>
            </a:pPr>
            <a:r>
              <a:rPr lang="en" sz="1800" dirty="0">
                <a:solidFill>
                  <a:schemeClr val="bg1"/>
                </a:solidFill>
                <a:latin typeface="+mj-lt"/>
                <a:ea typeface="Montserrat Light"/>
                <a:cs typeface="Montserrat Light"/>
                <a:sym typeface="Montserrat Light"/>
              </a:rPr>
              <a:t>Getting around Ethiopia just got easier. Much easier.</a:t>
            </a:r>
          </a:p>
        </p:txBody>
      </p:sp>
      <p:sp>
        <p:nvSpPr>
          <p:cNvPr id="62" name="Shape 62"/>
          <p:cNvSpPr txBox="1"/>
          <p:nvPr/>
        </p:nvSpPr>
        <p:spPr>
          <a:xfrm>
            <a:off x="344551" y="3922461"/>
            <a:ext cx="7910274" cy="34684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algn="ctr">
              <a:defRPr sz="2400">
                <a:solidFill>
                  <a:srgbClr val="EA2E49"/>
                </a:solidFill>
                <a:latin typeface="Montserrat SemiBold"/>
                <a:ea typeface="Montserrat SemiBold"/>
                <a:cs typeface="Montserrat SemiBold"/>
              </a:defRPr>
            </a:lvl1pPr>
          </a:lstStyle>
          <a:p>
            <a:pPr algn="l"/>
            <a:r>
              <a:rPr lang="en-US" sz="1100" dirty="0">
                <a:solidFill>
                  <a:schemeClr val="bg1"/>
                </a:solidFill>
                <a:latin typeface="+mj-lt"/>
              </a:rPr>
              <a:t>Tewodros Hailegeberel</a:t>
            </a:r>
          </a:p>
        </p:txBody>
      </p:sp>
      <p:sp>
        <p:nvSpPr>
          <p:cNvPr id="9" name="Shape 63"/>
          <p:cNvSpPr txBox="1"/>
          <p:nvPr/>
        </p:nvSpPr>
        <p:spPr>
          <a:xfrm>
            <a:off x="344550" y="4854872"/>
            <a:ext cx="8364321" cy="189403"/>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RPr/>
            </a:defPPr>
            <a:lvl1pPr>
              <a:defRPr sz="2000">
                <a:solidFill>
                  <a:srgbClr val="EA2E49"/>
                </a:solidFill>
                <a:latin typeface="Montserrat SemiBold"/>
                <a:ea typeface="Montserrat SemiBold"/>
                <a:cs typeface="Montserrat SemiBold"/>
              </a:defRPr>
            </a:lvl1pPr>
          </a:lstStyle>
          <a:p>
            <a:pPr algn="ctr"/>
            <a:r>
              <a:rPr lang="en-US" sz="600" dirty="0">
                <a:solidFill>
                  <a:schemeClr val="bg1"/>
                </a:solidFill>
                <a:latin typeface="+mj-lt"/>
              </a:rPr>
              <a:t>Confidential and Proprietary. Copyright (c) by E-Adrasha. All Rights Reserved.</a:t>
            </a:r>
            <a:endParaRPr lang="en" sz="600" dirty="0">
              <a:solidFill>
                <a:schemeClr val="bg1"/>
              </a:solidFill>
              <a:latin typeface="+mj-lt"/>
              <a:sym typeface="Montserrat SemiBold"/>
            </a:endParaRPr>
          </a:p>
        </p:txBody>
      </p:sp>
      <p:sp>
        <p:nvSpPr>
          <p:cNvPr id="11" name="Shape 62"/>
          <p:cNvSpPr txBox="1"/>
          <p:nvPr/>
        </p:nvSpPr>
        <p:spPr>
          <a:xfrm>
            <a:off x="1882003" y="1826787"/>
            <a:ext cx="1756422" cy="440892"/>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algn="ctr">
              <a:defRPr sz="2400">
                <a:solidFill>
                  <a:srgbClr val="EA2E49"/>
                </a:solidFill>
                <a:latin typeface="Montserrat SemiBold"/>
                <a:ea typeface="Montserrat SemiBold"/>
                <a:cs typeface="Montserrat SemiBold"/>
              </a:defRPr>
            </a:lvl1pPr>
          </a:lstStyle>
          <a:p>
            <a:pPr algn="l"/>
            <a:r>
              <a:rPr lang="en-US" sz="2000" dirty="0">
                <a:solidFill>
                  <a:schemeClr val="bg1"/>
                </a:solidFill>
                <a:latin typeface="+mj-lt"/>
              </a:rPr>
              <a:t>E-ADRASHA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Shape 69"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70" name="Shape 70"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71" name="Shape 71"/>
          <p:cNvSpPr txBox="1"/>
          <p:nvPr/>
        </p:nvSpPr>
        <p:spPr>
          <a:xfrm>
            <a:off x="431101" y="1149863"/>
            <a:ext cx="2507592" cy="2266015"/>
          </a:xfrm>
          <a:prstGeom prst="rect">
            <a:avLst/>
          </a:prstGeom>
          <a:noFill/>
          <a:ln w="28575">
            <a:solidFill>
              <a:srgbClr val="E92F4A"/>
            </a:solidFill>
          </a:ln>
        </p:spPr>
        <p:txBody>
          <a:bodyPr wrap="square" lIns="91425" tIns="91425" rIns="91425" bIns="91425" anchor="ctr" anchorCtr="0">
            <a:noAutofit/>
          </a:bodyPr>
          <a:lstStyle>
            <a:defPPr marR="0" lvl="0" algn="l" rtl="0">
              <a:lnSpc>
                <a:spcPct val="100000"/>
              </a:lnSpc>
              <a:spcBef>
                <a:spcPts val="0"/>
              </a:spcBef>
              <a:spcAft>
                <a:spcPts val="0"/>
              </a:spcAft>
            </a:defPPr>
            <a:lvl1pPr>
              <a:lnSpc>
                <a:spcPct val="115000"/>
              </a:lnSpc>
              <a:defRPr sz="1000" b="1">
                <a:solidFill>
                  <a:schemeClr val="dk2"/>
                </a:solidFill>
              </a:defRPr>
            </a:lvl1pPr>
          </a:lstStyle>
          <a:p>
            <a:r>
              <a:rPr lang="en-US" dirty="0"/>
              <a:t>Ethiopia is in the midst of transforming into a middle income country. </a:t>
            </a:r>
          </a:p>
          <a:p>
            <a:r>
              <a:rPr lang="en-US" dirty="0"/>
              <a:t>To get location data in Addis Ababa, Ethiopia, users rely on word of mouth information to find their destination and other information. </a:t>
            </a:r>
          </a:p>
          <a:p>
            <a:r>
              <a:rPr lang="en-US" dirty="0"/>
              <a:t>Taxis often have to rely on their passengers to get to their destination if they don’t know the area very well.</a:t>
            </a:r>
          </a:p>
        </p:txBody>
      </p:sp>
      <p:sp>
        <p:nvSpPr>
          <p:cNvPr id="72" name="Shape 7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a:r>
              <a:rPr lang="en-US" sz="2400" b="1" dirty="0">
                <a:solidFill>
                  <a:schemeClr val="lt1"/>
                </a:solidFill>
              </a:rPr>
              <a:t>The Problem</a:t>
            </a:r>
            <a:endParaRPr lang="en" sz="2400" b="1" dirty="0">
              <a:solidFill>
                <a:schemeClr val="lt1"/>
              </a:solidFill>
            </a:endParaRPr>
          </a:p>
        </p:txBody>
      </p:sp>
      <p:sp>
        <p:nvSpPr>
          <p:cNvPr id="6" name="Shape 71"/>
          <p:cNvSpPr txBox="1"/>
          <p:nvPr/>
        </p:nvSpPr>
        <p:spPr>
          <a:xfrm>
            <a:off x="3137052" y="1149863"/>
            <a:ext cx="2393491" cy="2266015"/>
          </a:xfrm>
          <a:prstGeom prst="rect">
            <a:avLst/>
          </a:prstGeom>
          <a:noFill/>
          <a:ln w="28575">
            <a:solidFill>
              <a:srgbClr val="E92F4A"/>
            </a:solidFill>
          </a:ln>
        </p:spPr>
        <p:txBody>
          <a:bodyPr wrap="square" lIns="91425" tIns="91425" rIns="91425" bIns="91425" anchor="ctr" anchorCtr="0">
            <a:noAutofit/>
          </a:bodyPr>
          <a:lstStyle>
            <a:defPPr marR="0" lvl="0" algn="l" rtl="0">
              <a:lnSpc>
                <a:spcPct val="100000"/>
              </a:lnSpc>
              <a:spcBef>
                <a:spcPts val="0"/>
              </a:spcBef>
              <a:spcAft>
                <a:spcPts val="0"/>
              </a:spcAft>
              <a:defRPr/>
            </a:defPPr>
            <a:lvl1pPr>
              <a:lnSpc>
                <a:spcPct val="115000"/>
              </a:lnSpc>
              <a:defRPr sz="1000" b="1">
                <a:solidFill>
                  <a:schemeClr val="dk2"/>
                </a:solidFill>
              </a:defRPr>
            </a:lvl1pPr>
          </a:lstStyle>
          <a:p>
            <a:r>
              <a:rPr lang="en-US" dirty="0"/>
              <a:t>Currently there is no digital platform that will provide location based information for any type of consumer to use. </a:t>
            </a:r>
            <a:endParaRPr lang="en" dirty="0"/>
          </a:p>
        </p:txBody>
      </p:sp>
      <p:sp>
        <p:nvSpPr>
          <p:cNvPr id="7" name="Shape 71"/>
          <p:cNvSpPr txBox="1"/>
          <p:nvPr/>
        </p:nvSpPr>
        <p:spPr>
          <a:xfrm>
            <a:off x="5728902" y="1144117"/>
            <a:ext cx="2418717" cy="2271762"/>
          </a:xfrm>
          <a:prstGeom prst="rect">
            <a:avLst/>
          </a:prstGeom>
          <a:noFill/>
          <a:ln w="28575">
            <a:solidFill>
              <a:srgbClr val="E92F4A"/>
            </a:solidFill>
          </a:ln>
        </p:spPr>
        <p:txBody>
          <a:bodyPr wrap="square" lIns="91425" tIns="91425" rIns="91425" bIns="91425" anchor="ctr" anchorCtr="0">
            <a:noAutofit/>
          </a:bodyPr>
          <a:lstStyle/>
          <a:p>
            <a:pPr lvl="0">
              <a:lnSpc>
                <a:spcPct val="115000"/>
              </a:lnSpc>
            </a:pPr>
            <a:r>
              <a:rPr lang="en-US" sz="1000" b="1" dirty="0">
                <a:solidFill>
                  <a:schemeClr val="dk2"/>
                </a:solidFill>
              </a:rPr>
              <a:t>Some locations and roads are also not well known by everyone in the city, thus getting round the city is very hard because most people rely on known information. If a new road is constructed and it’s the easiest path to their destination, people will not be able to know about it. </a:t>
            </a:r>
            <a:endParaRPr lang="en" sz="1000" b="1" dirty="0">
              <a:solidFill>
                <a:schemeClr val="dk2"/>
              </a:solidFill>
            </a:endParaRPr>
          </a:p>
        </p:txBody>
      </p:sp>
      <p:pic>
        <p:nvPicPr>
          <p:cNvPr id="8" name="Shape 78"/>
          <p:cNvPicPr preferRelativeResize="0"/>
          <p:nvPr/>
        </p:nvPicPr>
        <p:blipFill>
          <a:blip r:embed="rId5"/>
          <a:stretch>
            <a:fillRect/>
          </a:stretch>
        </p:blipFill>
        <p:spPr>
          <a:xfrm>
            <a:off x="2956531" y="3529712"/>
            <a:ext cx="2754531" cy="1542660"/>
          </a:xfrm>
          <a:prstGeom prst="rect">
            <a:avLst/>
          </a:prstGeom>
          <a:noFill/>
          <a:ln w="28575">
            <a:solidFill>
              <a:srgbClr val="E92F4A"/>
            </a:solidFill>
          </a:ln>
        </p:spPr>
      </p:pic>
    </p:spTree>
    <p:extLst>
      <p:ext uri="{BB962C8B-B14F-4D97-AF65-F5344CB8AC3E}">
        <p14:creationId xmlns:p14="http://schemas.microsoft.com/office/powerpoint/2010/main" val="646183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Shape 69"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70" name="Shape 70"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71" name="Shape 71"/>
          <p:cNvSpPr txBox="1"/>
          <p:nvPr/>
        </p:nvSpPr>
        <p:spPr>
          <a:xfrm>
            <a:off x="431101" y="1149863"/>
            <a:ext cx="2507592" cy="2829354"/>
          </a:xfrm>
          <a:prstGeom prst="rect">
            <a:avLst/>
          </a:prstGeom>
          <a:noFill/>
          <a:ln w="28575">
            <a:solidFill>
              <a:srgbClr val="E92F4A"/>
            </a:solidFill>
          </a:ln>
        </p:spPr>
        <p:txBody>
          <a:bodyPr wrap="square" lIns="91425" tIns="91425" rIns="91425" bIns="91425" anchor="ctr" anchorCtr="0">
            <a:noAutofit/>
          </a:bodyPr>
          <a:lstStyle>
            <a:defPPr marR="0" lvl="0" algn="l" rtl="0">
              <a:lnSpc>
                <a:spcPct val="100000"/>
              </a:lnSpc>
              <a:spcBef>
                <a:spcPts val="0"/>
              </a:spcBef>
              <a:spcAft>
                <a:spcPts val="0"/>
              </a:spcAft>
            </a:defPPr>
            <a:lvl1pPr>
              <a:lnSpc>
                <a:spcPct val="115000"/>
              </a:lnSpc>
              <a:defRPr sz="1000" b="1">
                <a:solidFill>
                  <a:schemeClr val="dk2"/>
                </a:solidFill>
              </a:defRPr>
            </a:lvl1pPr>
          </a:lstStyle>
          <a:p>
            <a:r>
              <a:rPr lang="en-US" dirty="0"/>
              <a:t>We are collecting over 300 type of categories like:</a:t>
            </a:r>
          </a:p>
          <a:p>
            <a:pPr marL="171450" indent="-171450">
              <a:buFont typeface="Arial" panose="020B0604020202020204" pitchFamily="34" charset="0"/>
              <a:buChar char="•"/>
            </a:pPr>
            <a:r>
              <a:rPr lang="en-US" dirty="0"/>
              <a:t>Schools</a:t>
            </a:r>
          </a:p>
          <a:p>
            <a:pPr marL="171450" indent="-171450">
              <a:buFont typeface="Arial" panose="020B0604020202020204" pitchFamily="34" charset="0"/>
              <a:buChar char="•"/>
            </a:pPr>
            <a:r>
              <a:rPr lang="en-US" dirty="0"/>
              <a:t>Government offices</a:t>
            </a:r>
          </a:p>
          <a:p>
            <a:pPr marL="171450" indent="-171450">
              <a:buFont typeface="Arial" panose="020B0604020202020204" pitchFamily="34" charset="0"/>
              <a:buChar char="•"/>
            </a:pPr>
            <a:r>
              <a:rPr lang="en-US" dirty="0"/>
              <a:t>Buildings with building names</a:t>
            </a:r>
          </a:p>
          <a:p>
            <a:pPr marL="171450" indent="-171450">
              <a:buFont typeface="Arial" panose="020B0604020202020204" pitchFamily="34" charset="0"/>
              <a:buChar char="•"/>
            </a:pPr>
            <a:r>
              <a:rPr lang="en-US" dirty="0"/>
              <a:t>Hospitals</a:t>
            </a:r>
          </a:p>
          <a:p>
            <a:pPr marL="171450" indent="-171450">
              <a:buFont typeface="Arial" panose="020B0604020202020204" pitchFamily="34" charset="0"/>
              <a:buChar char="•"/>
            </a:pPr>
            <a:r>
              <a:rPr lang="en-US" dirty="0"/>
              <a:t>Clinics</a:t>
            </a:r>
          </a:p>
          <a:p>
            <a:pPr marL="171450" indent="-171450">
              <a:buFont typeface="Arial" panose="020B0604020202020204" pitchFamily="34" charset="0"/>
              <a:buChar char="•"/>
            </a:pPr>
            <a:r>
              <a:rPr lang="en-US" dirty="0"/>
              <a:t>Condos</a:t>
            </a:r>
          </a:p>
          <a:p>
            <a:pPr marL="171450" indent="-171450">
              <a:buFont typeface="Arial" panose="020B0604020202020204" pitchFamily="34" charset="0"/>
              <a:buChar char="•"/>
            </a:pPr>
            <a:r>
              <a:rPr lang="en-US" dirty="0"/>
              <a:t>Residential homes, and more</a:t>
            </a:r>
          </a:p>
        </p:txBody>
      </p:sp>
      <p:sp>
        <p:nvSpPr>
          <p:cNvPr id="72" name="Shape 7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a:r>
              <a:rPr lang="en-US" sz="2400" b="1" dirty="0">
                <a:solidFill>
                  <a:schemeClr val="lt1"/>
                </a:solidFill>
              </a:rPr>
              <a:t>The Solution</a:t>
            </a:r>
            <a:endParaRPr lang="en" sz="2400" b="1" dirty="0">
              <a:solidFill>
                <a:schemeClr val="lt1"/>
              </a:solidFill>
            </a:endParaRPr>
          </a:p>
        </p:txBody>
      </p:sp>
      <p:sp>
        <p:nvSpPr>
          <p:cNvPr id="6" name="Shape 71"/>
          <p:cNvSpPr txBox="1"/>
          <p:nvPr/>
        </p:nvSpPr>
        <p:spPr>
          <a:xfrm>
            <a:off x="3137052" y="1149863"/>
            <a:ext cx="2393491" cy="2829354"/>
          </a:xfrm>
          <a:prstGeom prst="rect">
            <a:avLst/>
          </a:prstGeom>
          <a:noFill/>
          <a:ln w="28575">
            <a:solidFill>
              <a:srgbClr val="E92F4A"/>
            </a:solidFill>
          </a:ln>
        </p:spPr>
        <p:txBody>
          <a:bodyPr wrap="square" lIns="91425" tIns="91425" rIns="91425" bIns="91425" anchor="ctr" anchorCtr="0">
            <a:noAutofit/>
          </a:bodyPr>
          <a:lstStyle>
            <a:defPPr marR="0" lvl="0" algn="l" rtl="0">
              <a:lnSpc>
                <a:spcPct val="100000"/>
              </a:lnSpc>
              <a:spcBef>
                <a:spcPts val="0"/>
              </a:spcBef>
              <a:spcAft>
                <a:spcPts val="0"/>
              </a:spcAft>
              <a:defRPr/>
            </a:defPPr>
            <a:lvl1pPr>
              <a:lnSpc>
                <a:spcPct val="115000"/>
              </a:lnSpc>
              <a:defRPr sz="1000" b="1">
                <a:solidFill>
                  <a:schemeClr val="dk2"/>
                </a:solidFill>
              </a:defRPr>
            </a:lvl1pPr>
          </a:lstStyle>
          <a:p>
            <a:r>
              <a:rPr lang="en-US" dirty="0"/>
              <a:t>Using this data, we’ve created a </a:t>
            </a:r>
            <a:r>
              <a:rPr lang="en-US" dirty="0" err="1"/>
              <a:t>geolocator</a:t>
            </a:r>
            <a:r>
              <a:rPr lang="en-US" dirty="0"/>
              <a:t> that will enable users to find their destination or locations.</a:t>
            </a:r>
          </a:p>
          <a:p>
            <a:r>
              <a:rPr lang="en-US" dirty="0"/>
              <a:t>We’ve also enriched the data by adding hours of operation for business and foot traffic data, car parking information, number of seats a business has. We believe this information  will help users and business to use our data.</a:t>
            </a:r>
          </a:p>
        </p:txBody>
      </p:sp>
      <p:sp>
        <p:nvSpPr>
          <p:cNvPr id="7" name="Shape 71"/>
          <p:cNvSpPr txBox="1"/>
          <p:nvPr/>
        </p:nvSpPr>
        <p:spPr>
          <a:xfrm>
            <a:off x="5728902" y="1144116"/>
            <a:ext cx="2418717" cy="2835101"/>
          </a:xfrm>
          <a:prstGeom prst="rect">
            <a:avLst/>
          </a:prstGeom>
          <a:noFill/>
          <a:ln w="28575">
            <a:solidFill>
              <a:srgbClr val="E92F4A"/>
            </a:solidFill>
          </a:ln>
        </p:spPr>
        <p:txBody>
          <a:bodyPr wrap="square" lIns="91425" tIns="91425" rIns="91425" bIns="91425" anchor="ctr" anchorCtr="0">
            <a:noAutofit/>
          </a:bodyPr>
          <a:lstStyle/>
          <a:p>
            <a:pPr lvl="0">
              <a:lnSpc>
                <a:spcPct val="115000"/>
              </a:lnSpc>
            </a:pPr>
            <a:r>
              <a:rPr lang="en-US" sz="1000" b="1">
                <a:solidFill>
                  <a:schemeClr val="dk2"/>
                </a:solidFill>
              </a:rPr>
              <a:t>Out data and application is multi language where users can search using native language (Amharic).</a:t>
            </a:r>
            <a:endParaRPr lang="en-US" sz="1000" b="1" dirty="0">
              <a:solidFill>
                <a:schemeClr val="dk2"/>
              </a:solidFill>
            </a:endParaRPr>
          </a:p>
        </p:txBody>
      </p:sp>
    </p:spTree>
    <p:extLst>
      <p:ext uri="{BB962C8B-B14F-4D97-AF65-F5344CB8AC3E}">
        <p14:creationId xmlns:p14="http://schemas.microsoft.com/office/powerpoint/2010/main" val="1273512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Shape 69"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70" name="Shape 70"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71" name="Shape 71"/>
          <p:cNvSpPr txBox="1"/>
          <p:nvPr/>
        </p:nvSpPr>
        <p:spPr>
          <a:xfrm>
            <a:off x="409775" y="956000"/>
            <a:ext cx="8181600" cy="3862500"/>
          </a:xfrm>
          <a:prstGeom prst="rect">
            <a:avLst/>
          </a:prstGeom>
          <a:noFill/>
          <a:ln>
            <a:noFill/>
          </a:ln>
        </p:spPr>
        <p:txBody>
          <a:bodyPr wrap="square" lIns="91425" tIns="91425" rIns="91425" bIns="91425" anchor="ctr" anchorCtr="0">
            <a:noAutofit/>
          </a:bodyPr>
          <a:lstStyle/>
          <a:p>
            <a:pPr marL="285750" lvl="2" indent="-285750">
              <a:lnSpc>
                <a:spcPct val="115000"/>
              </a:lnSpc>
              <a:buFont typeface="Arial" panose="020B0604020202020204" pitchFamily="34" charset="0"/>
              <a:buChar char="•"/>
            </a:pPr>
            <a:r>
              <a:rPr lang="en-US" sz="1800" b="1" dirty="0">
                <a:solidFill>
                  <a:schemeClr val="dk2"/>
                </a:solidFill>
              </a:rPr>
              <a:t>We are one of a kind startups in Addis Ababa with a </a:t>
            </a:r>
            <a:r>
              <a:rPr lang="en-US" sz="1800" b="1" dirty="0">
                <a:solidFill>
                  <a:srgbClr val="FF0000"/>
                </a:solidFill>
              </a:rPr>
              <a:t>large amount of data collected in the city</a:t>
            </a:r>
            <a:r>
              <a:rPr lang="en-US" sz="1800" b="1" dirty="0">
                <a:solidFill>
                  <a:schemeClr val="dk2"/>
                </a:solidFill>
              </a:rPr>
              <a:t>.</a:t>
            </a:r>
          </a:p>
          <a:p>
            <a:pPr marL="285750" lvl="2" indent="-285750">
              <a:lnSpc>
                <a:spcPct val="115000"/>
              </a:lnSpc>
              <a:buFont typeface="Arial" panose="020B0604020202020204" pitchFamily="34" charset="0"/>
              <a:buChar char="•"/>
            </a:pPr>
            <a:r>
              <a:rPr lang="en-US" sz="1800" b="1" dirty="0">
                <a:solidFill>
                  <a:schemeClr val="dk2"/>
                </a:solidFill>
              </a:rPr>
              <a:t>We also have the </a:t>
            </a:r>
            <a:r>
              <a:rPr lang="en-US" sz="1800" b="1" dirty="0">
                <a:solidFill>
                  <a:srgbClr val="FF0000"/>
                </a:solidFill>
              </a:rPr>
              <a:t>ability to quickly add data </a:t>
            </a:r>
            <a:r>
              <a:rPr lang="en-US" sz="1800" b="1" dirty="0">
                <a:solidFill>
                  <a:schemeClr val="dk2"/>
                </a:solidFill>
              </a:rPr>
              <a:t>to our database when there is a change in the city.</a:t>
            </a:r>
          </a:p>
          <a:p>
            <a:pPr marL="285750" lvl="2" indent="-285750">
              <a:lnSpc>
                <a:spcPct val="115000"/>
              </a:lnSpc>
              <a:buFont typeface="Arial" panose="020B0604020202020204" pitchFamily="34" charset="0"/>
              <a:buChar char="•"/>
            </a:pPr>
            <a:r>
              <a:rPr lang="en-US" sz="1800" b="1" dirty="0">
                <a:solidFill>
                  <a:schemeClr val="dk2"/>
                </a:solidFill>
              </a:rPr>
              <a:t>The current city and </a:t>
            </a:r>
            <a:r>
              <a:rPr lang="en-US" sz="1800" b="1" dirty="0">
                <a:solidFill>
                  <a:srgbClr val="FF0000"/>
                </a:solidFill>
              </a:rPr>
              <a:t>government</a:t>
            </a:r>
            <a:r>
              <a:rPr lang="en-US" sz="1800" b="1" dirty="0">
                <a:solidFill>
                  <a:schemeClr val="dk2"/>
                </a:solidFill>
              </a:rPr>
              <a:t> administration have </a:t>
            </a:r>
            <a:r>
              <a:rPr lang="en-US" sz="1800" b="1" dirty="0">
                <a:solidFill>
                  <a:srgbClr val="FF0000"/>
                </a:solidFill>
              </a:rPr>
              <a:t>accepted</a:t>
            </a:r>
            <a:r>
              <a:rPr lang="en-US" sz="1800" b="1" dirty="0">
                <a:solidFill>
                  <a:schemeClr val="dk2"/>
                </a:solidFill>
              </a:rPr>
              <a:t> our solution for finding information using mobile application. </a:t>
            </a:r>
          </a:p>
          <a:p>
            <a:pPr marL="285750" lvl="2" indent="-285750">
              <a:lnSpc>
                <a:spcPct val="115000"/>
              </a:lnSpc>
              <a:buFont typeface="Arial" panose="020B0604020202020204" pitchFamily="34" charset="0"/>
              <a:buChar char="•"/>
            </a:pPr>
            <a:r>
              <a:rPr lang="en-US" sz="1800" b="1" dirty="0">
                <a:solidFill>
                  <a:schemeClr val="dk2"/>
                </a:solidFill>
              </a:rPr>
              <a:t>Because we have started the data collection and built a mobile app, we are in a good position to </a:t>
            </a:r>
            <a:r>
              <a:rPr lang="en-US" sz="1800" b="1" dirty="0">
                <a:solidFill>
                  <a:srgbClr val="FF0000"/>
                </a:solidFill>
              </a:rPr>
              <a:t>take advantage of working with government </a:t>
            </a:r>
            <a:r>
              <a:rPr lang="en-US" sz="1800" b="1" dirty="0">
                <a:solidFill>
                  <a:schemeClr val="dk2"/>
                </a:solidFill>
              </a:rPr>
              <a:t>agencies and </a:t>
            </a:r>
            <a:r>
              <a:rPr lang="en-US" sz="1800" b="1" dirty="0">
                <a:solidFill>
                  <a:srgbClr val="FF0000"/>
                </a:solidFill>
              </a:rPr>
              <a:t>business</a:t>
            </a:r>
            <a:r>
              <a:rPr lang="en-US" sz="1800" b="1" dirty="0">
                <a:solidFill>
                  <a:schemeClr val="dk2"/>
                </a:solidFill>
              </a:rPr>
              <a:t>.</a:t>
            </a:r>
          </a:p>
        </p:txBody>
      </p:sp>
      <p:sp>
        <p:nvSpPr>
          <p:cNvPr id="72" name="Shape 7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a:r>
              <a:rPr lang="en-US" sz="2400" b="1" dirty="0">
                <a:solidFill>
                  <a:schemeClr val="lt1"/>
                </a:solidFill>
              </a:rPr>
              <a:t>The Advantage</a:t>
            </a:r>
            <a:endParaRPr lang="en" sz="2400" b="1" dirty="0">
              <a:solidFill>
                <a:schemeClr val="lt1"/>
              </a:solidFill>
            </a:endParaRPr>
          </a:p>
        </p:txBody>
      </p:sp>
    </p:spTree>
    <p:extLst>
      <p:ext uri="{BB962C8B-B14F-4D97-AF65-F5344CB8AC3E}">
        <p14:creationId xmlns:p14="http://schemas.microsoft.com/office/powerpoint/2010/main" val="1210148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Shape 142"/>
          <p:cNvSpPr/>
          <p:nvPr/>
        </p:nvSpPr>
        <p:spPr>
          <a:xfrm>
            <a:off x="0" y="-100"/>
            <a:ext cx="5321700" cy="5143500"/>
          </a:xfrm>
          <a:prstGeom prst="rect">
            <a:avLst/>
          </a:prstGeom>
          <a:solidFill>
            <a:srgbClr val="EA2E49"/>
          </a:solidFill>
          <a:ln>
            <a:noFill/>
          </a:ln>
        </p:spPr>
        <p:txBody>
          <a:bodyPr wrap="square" lIns="91425" tIns="91425" rIns="91425" bIns="91425" anchor="ctr" anchorCtr="0">
            <a:noAutofit/>
          </a:bodyPr>
          <a:lstStyle/>
          <a:p>
            <a:pPr lvl="0">
              <a:spcBef>
                <a:spcPts val="0"/>
              </a:spcBef>
              <a:buNone/>
            </a:pPr>
            <a:endParaRPr>
              <a:latin typeface="+mj-lt"/>
            </a:endParaRPr>
          </a:p>
        </p:txBody>
      </p:sp>
      <p:pic>
        <p:nvPicPr>
          <p:cNvPr id="143" name="Shape 143"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144" name="Shape 144"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145" name="Shape 145"/>
          <p:cNvSpPr txBox="1"/>
          <p:nvPr/>
        </p:nvSpPr>
        <p:spPr>
          <a:xfrm>
            <a:off x="6461375" y="1298932"/>
            <a:ext cx="2397300" cy="885600"/>
          </a:xfrm>
          <a:prstGeom prst="rect">
            <a:avLst/>
          </a:prstGeom>
          <a:noFill/>
          <a:ln>
            <a:noFill/>
          </a:ln>
        </p:spPr>
        <p:txBody>
          <a:bodyPr wrap="square" lIns="91425" tIns="91425" rIns="91425" bIns="91425" anchor="t" anchorCtr="0">
            <a:noAutofit/>
          </a:bodyPr>
          <a:lstStyle/>
          <a:p>
            <a:pPr lvl="0" rtl="0">
              <a:spcBef>
                <a:spcPts val="0"/>
              </a:spcBef>
              <a:buNone/>
            </a:pPr>
            <a:r>
              <a:rPr lang="en" dirty="0">
                <a:solidFill>
                  <a:srgbClr val="EA2E49"/>
                </a:solidFill>
                <a:latin typeface="+mj-lt"/>
                <a:ea typeface="Montserrat Medium"/>
                <a:cs typeface="Montserrat Medium"/>
                <a:sym typeface="Montserrat Medium"/>
              </a:rPr>
              <a:t>Transit</a:t>
            </a:r>
          </a:p>
          <a:p>
            <a:pPr lvl="0" rtl="0">
              <a:spcBef>
                <a:spcPts val="0"/>
              </a:spcBef>
              <a:buNone/>
            </a:pPr>
            <a:r>
              <a:rPr lang="en" sz="1000" dirty="0">
                <a:solidFill>
                  <a:srgbClr val="EA2E49"/>
                </a:solidFill>
                <a:latin typeface="+mj-lt"/>
                <a:ea typeface="Montserrat Light"/>
                <a:cs typeface="Montserrat Light"/>
                <a:sym typeface="Montserrat Light"/>
              </a:rPr>
              <a:t>Real-time driving navigation routes, with traffic updates and travel time.</a:t>
            </a:r>
          </a:p>
        </p:txBody>
      </p:sp>
      <p:sp>
        <p:nvSpPr>
          <p:cNvPr id="146" name="Shape 146"/>
          <p:cNvSpPr txBox="1"/>
          <p:nvPr/>
        </p:nvSpPr>
        <p:spPr>
          <a:xfrm>
            <a:off x="6461375" y="3871726"/>
            <a:ext cx="2397300" cy="885600"/>
          </a:xfrm>
          <a:prstGeom prst="rect">
            <a:avLst/>
          </a:prstGeom>
          <a:noFill/>
          <a:ln>
            <a:noFill/>
          </a:ln>
        </p:spPr>
        <p:txBody>
          <a:bodyPr wrap="square" lIns="91425" tIns="91425" rIns="91425" bIns="91425" anchor="t" anchorCtr="0">
            <a:noAutofit/>
          </a:bodyPr>
          <a:lstStyle/>
          <a:p>
            <a:pPr lvl="0" rtl="0">
              <a:spcBef>
                <a:spcPts val="0"/>
              </a:spcBef>
              <a:buNone/>
            </a:pPr>
            <a:r>
              <a:rPr lang="en">
                <a:solidFill>
                  <a:srgbClr val="EA2E49"/>
                </a:solidFill>
                <a:latin typeface="+mj-lt"/>
                <a:ea typeface="Montserrat Medium"/>
                <a:cs typeface="Montserrat Medium"/>
                <a:sym typeface="Montserrat Medium"/>
              </a:rPr>
              <a:t>Tourism</a:t>
            </a:r>
          </a:p>
          <a:p>
            <a:pPr lvl="0" rtl="0">
              <a:spcBef>
                <a:spcPts val="0"/>
              </a:spcBef>
              <a:buNone/>
            </a:pPr>
            <a:r>
              <a:rPr lang="en" sz="1000">
                <a:solidFill>
                  <a:srgbClr val="EA2E49"/>
                </a:solidFill>
                <a:latin typeface="+mj-lt"/>
                <a:ea typeface="Montserrat Light"/>
                <a:cs typeface="Montserrat Light"/>
                <a:sym typeface="Montserrat Light"/>
              </a:rPr>
              <a:t>Directions to historical and cultural sites, markets, and several tourist attractions, commercial, government locations.</a:t>
            </a:r>
          </a:p>
        </p:txBody>
      </p:sp>
      <p:sp>
        <p:nvSpPr>
          <p:cNvPr id="147" name="Shape 147"/>
          <p:cNvSpPr txBox="1"/>
          <p:nvPr/>
        </p:nvSpPr>
        <p:spPr>
          <a:xfrm>
            <a:off x="6461375" y="2540896"/>
            <a:ext cx="2297100" cy="885600"/>
          </a:xfrm>
          <a:prstGeom prst="rect">
            <a:avLst/>
          </a:prstGeom>
          <a:noFill/>
          <a:ln>
            <a:noFill/>
          </a:ln>
        </p:spPr>
        <p:txBody>
          <a:bodyPr wrap="square" lIns="91425" tIns="91425" rIns="91425" bIns="91425" anchor="t" anchorCtr="0">
            <a:noAutofit/>
          </a:bodyPr>
          <a:lstStyle/>
          <a:p>
            <a:pPr lvl="0" rtl="0">
              <a:spcBef>
                <a:spcPts val="0"/>
              </a:spcBef>
              <a:buNone/>
            </a:pPr>
            <a:r>
              <a:rPr lang="en">
                <a:solidFill>
                  <a:srgbClr val="EA2E49"/>
                </a:solidFill>
                <a:latin typeface="+mj-lt"/>
                <a:ea typeface="Montserrat Medium"/>
                <a:cs typeface="Montserrat Medium"/>
                <a:sym typeface="Montserrat Medium"/>
              </a:rPr>
              <a:t>Goods &amp; Services</a:t>
            </a:r>
          </a:p>
          <a:p>
            <a:pPr lvl="0" rtl="0">
              <a:spcBef>
                <a:spcPts val="0"/>
              </a:spcBef>
              <a:buNone/>
            </a:pPr>
            <a:r>
              <a:rPr lang="en" sz="1000">
                <a:solidFill>
                  <a:srgbClr val="EA2E49"/>
                </a:solidFill>
                <a:latin typeface="+mj-lt"/>
                <a:ea typeface="Montserrat Light"/>
                <a:cs typeface="Montserrat Light"/>
                <a:sym typeface="Montserrat Light"/>
              </a:rPr>
              <a:t>Efficient and updated routes for delivery and pick-up of freight, goods, and services.</a:t>
            </a:r>
          </a:p>
        </p:txBody>
      </p:sp>
      <p:sp>
        <p:nvSpPr>
          <p:cNvPr id="148" name="Shape 148"/>
          <p:cNvSpPr/>
          <p:nvPr/>
        </p:nvSpPr>
        <p:spPr>
          <a:xfrm>
            <a:off x="5599177" y="2703960"/>
            <a:ext cx="862191" cy="711864"/>
          </a:xfrm>
          <a:custGeom>
            <a:avLst/>
            <a:gdLst/>
            <a:ahLst/>
            <a:cxnLst/>
            <a:rect l="0" t="0" r="0" b="0"/>
            <a:pathLst>
              <a:path w="7733" h="6385" extrusionOk="0">
                <a:moveTo>
                  <a:pt x="2416" y="5628"/>
                </a:moveTo>
                <a:lnTo>
                  <a:pt x="2484" y="5540"/>
                </a:lnTo>
                <a:lnTo>
                  <a:pt x="2542" y="5443"/>
                </a:lnTo>
                <a:lnTo>
                  <a:pt x="2571" y="5336"/>
                </a:lnTo>
                <a:lnTo>
                  <a:pt x="2581" y="5220"/>
                </a:lnTo>
                <a:lnTo>
                  <a:pt x="2571" y="5104"/>
                </a:lnTo>
                <a:lnTo>
                  <a:pt x="2542" y="5007"/>
                </a:lnTo>
                <a:lnTo>
                  <a:pt x="2484" y="4900"/>
                </a:lnTo>
                <a:lnTo>
                  <a:pt x="2416" y="4813"/>
                </a:lnTo>
                <a:lnTo>
                  <a:pt x="2319" y="4735"/>
                </a:lnTo>
                <a:lnTo>
                  <a:pt x="2222" y="4686"/>
                </a:lnTo>
                <a:lnTo>
                  <a:pt x="2115" y="4657"/>
                </a:lnTo>
                <a:lnTo>
                  <a:pt x="2009" y="4648"/>
                </a:lnTo>
                <a:lnTo>
                  <a:pt x="1892" y="4657"/>
                </a:lnTo>
                <a:lnTo>
                  <a:pt x="1785" y="4686"/>
                </a:lnTo>
                <a:lnTo>
                  <a:pt x="1698" y="4735"/>
                </a:lnTo>
                <a:lnTo>
                  <a:pt x="1601" y="4813"/>
                </a:lnTo>
                <a:lnTo>
                  <a:pt x="1533" y="4900"/>
                </a:lnTo>
                <a:lnTo>
                  <a:pt x="1475" y="5007"/>
                </a:lnTo>
                <a:lnTo>
                  <a:pt x="1436" y="5104"/>
                </a:lnTo>
                <a:lnTo>
                  <a:pt x="1426" y="5220"/>
                </a:lnTo>
                <a:lnTo>
                  <a:pt x="1436" y="5336"/>
                </a:lnTo>
                <a:lnTo>
                  <a:pt x="1475" y="5443"/>
                </a:lnTo>
                <a:lnTo>
                  <a:pt x="1533" y="5540"/>
                </a:lnTo>
                <a:lnTo>
                  <a:pt x="1601" y="5628"/>
                </a:lnTo>
                <a:lnTo>
                  <a:pt x="1698" y="5705"/>
                </a:lnTo>
                <a:lnTo>
                  <a:pt x="1785" y="5754"/>
                </a:lnTo>
                <a:lnTo>
                  <a:pt x="1892" y="5792"/>
                </a:lnTo>
                <a:lnTo>
                  <a:pt x="2009" y="5802"/>
                </a:lnTo>
                <a:lnTo>
                  <a:pt x="2115" y="5792"/>
                </a:lnTo>
                <a:lnTo>
                  <a:pt x="2222" y="5754"/>
                </a:lnTo>
                <a:lnTo>
                  <a:pt x="2319" y="5705"/>
                </a:lnTo>
                <a:close/>
                <a:moveTo>
                  <a:pt x="864" y="2892"/>
                </a:moveTo>
                <a:lnTo>
                  <a:pt x="2581" y="2892"/>
                </a:lnTo>
                <a:lnTo>
                  <a:pt x="2581" y="1737"/>
                </a:lnTo>
                <a:lnTo>
                  <a:pt x="1873" y="1737"/>
                </a:lnTo>
                <a:lnTo>
                  <a:pt x="1815" y="1747"/>
                </a:lnTo>
                <a:lnTo>
                  <a:pt x="1766" y="1776"/>
                </a:lnTo>
                <a:lnTo>
                  <a:pt x="903" y="2669"/>
                </a:lnTo>
                <a:lnTo>
                  <a:pt x="874" y="2717"/>
                </a:lnTo>
                <a:lnTo>
                  <a:pt x="864" y="2766"/>
                </a:lnTo>
                <a:close/>
                <a:moveTo>
                  <a:pt x="6413" y="5628"/>
                </a:moveTo>
                <a:lnTo>
                  <a:pt x="6481" y="5540"/>
                </a:lnTo>
                <a:lnTo>
                  <a:pt x="6539" y="5443"/>
                </a:lnTo>
                <a:lnTo>
                  <a:pt x="6578" y="5336"/>
                </a:lnTo>
                <a:lnTo>
                  <a:pt x="6578" y="5220"/>
                </a:lnTo>
                <a:lnTo>
                  <a:pt x="6578" y="5104"/>
                </a:lnTo>
                <a:lnTo>
                  <a:pt x="6539" y="5007"/>
                </a:lnTo>
                <a:lnTo>
                  <a:pt x="6481" y="4900"/>
                </a:lnTo>
                <a:lnTo>
                  <a:pt x="6413" y="4813"/>
                </a:lnTo>
                <a:lnTo>
                  <a:pt x="6326" y="4735"/>
                </a:lnTo>
                <a:lnTo>
                  <a:pt x="6229" y="4686"/>
                </a:lnTo>
                <a:lnTo>
                  <a:pt x="6122" y="4657"/>
                </a:lnTo>
                <a:lnTo>
                  <a:pt x="6015" y="4648"/>
                </a:lnTo>
                <a:lnTo>
                  <a:pt x="5899" y="4657"/>
                </a:lnTo>
                <a:lnTo>
                  <a:pt x="5792" y="4686"/>
                </a:lnTo>
                <a:lnTo>
                  <a:pt x="5705" y="4735"/>
                </a:lnTo>
                <a:lnTo>
                  <a:pt x="5608" y="4813"/>
                </a:lnTo>
                <a:lnTo>
                  <a:pt x="5540" y="4900"/>
                </a:lnTo>
                <a:lnTo>
                  <a:pt x="5482" y="5007"/>
                </a:lnTo>
                <a:lnTo>
                  <a:pt x="5443" y="5104"/>
                </a:lnTo>
                <a:lnTo>
                  <a:pt x="5433" y="5220"/>
                </a:lnTo>
                <a:lnTo>
                  <a:pt x="5443" y="5336"/>
                </a:lnTo>
                <a:lnTo>
                  <a:pt x="5482" y="5443"/>
                </a:lnTo>
                <a:lnTo>
                  <a:pt x="5540" y="5540"/>
                </a:lnTo>
                <a:lnTo>
                  <a:pt x="5608" y="5628"/>
                </a:lnTo>
                <a:lnTo>
                  <a:pt x="5705" y="5705"/>
                </a:lnTo>
                <a:lnTo>
                  <a:pt x="5792" y="5754"/>
                </a:lnTo>
                <a:lnTo>
                  <a:pt x="5899" y="5792"/>
                </a:lnTo>
                <a:lnTo>
                  <a:pt x="6015" y="5802"/>
                </a:lnTo>
                <a:lnTo>
                  <a:pt x="6122" y="5792"/>
                </a:lnTo>
                <a:lnTo>
                  <a:pt x="6229" y="5754"/>
                </a:lnTo>
                <a:lnTo>
                  <a:pt x="6326" y="5705"/>
                </a:lnTo>
                <a:close/>
                <a:moveTo>
                  <a:pt x="7732" y="282"/>
                </a:moveTo>
                <a:lnTo>
                  <a:pt x="7732" y="4929"/>
                </a:lnTo>
                <a:lnTo>
                  <a:pt x="7723" y="4997"/>
                </a:lnTo>
                <a:lnTo>
                  <a:pt x="7713" y="5055"/>
                </a:lnTo>
                <a:lnTo>
                  <a:pt x="7684" y="5104"/>
                </a:lnTo>
                <a:lnTo>
                  <a:pt x="7645" y="5133"/>
                </a:lnTo>
                <a:lnTo>
                  <a:pt x="7606" y="5172"/>
                </a:lnTo>
                <a:lnTo>
                  <a:pt x="7577" y="5191"/>
                </a:lnTo>
                <a:lnTo>
                  <a:pt x="7538" y="5210"/>
                </a:lnTo>
                <a:lnTo>
                  <a:pt x="7470" y="5220"/>
                </a:lnTo>
                <a:lnTo>
                  <a:pt x="7412" y="5220"/>
                </a:lnTo>
                <a:lnTo>
                  <a:pt x="7373" y="5220"/>
                </a:lnTo>
                <a:lnTo>
                  <a:pt x="7354" y="5220"/>
                </a:lnTo>
                <a:lnTo>
                  <a:pt x="7325" y="5220"/>
                </a:lnTo>
                <a:lnTo>
                  <a:pt x="7296" y="5220"/>
                </a:lnTo>
                <a:lnTo>
                  <a:pt x="7247" y="5220"/>
                </a:lnTo>
                <a:lnTo>
                  <a:pt x="7218" y="5220"/>
                </a:lnTo>
                <a:lnTo>
                  <a:pt x="7189" y="5220"/>
                </a:lnTo>
                <a:lnTo>
                  <a:pt x="7160" y="5220"/>
                </a:lnTo>
                <a:lnTo>
                  <a:pt x="7150" y="5220"/>
                </a:lnTo>
                <a:lnTo>
                  <a:pt x="7150" y="5346"/>
                </a:lnTo>
                <a:lnTo>
                  <a:pt x="7131" y="5453"/>
                </a:lnTo>
                <a:lnTo>
                  <a:pt x="7102" y="5560"/>
                </a:lnTo>
                <a:lnTo>
                  <a:pt x="7073" y="5666"/>
                </a:lnTo>
                <a:lnTo>
                  <a:pt x="7024" y="5763"/>
                </a:lnTo>
                <a:lnTo>
                  <a:pt x="6966" y="5870"/>
                </a:lnTo>
                <a:lnTo>
                  <a:pt x="6898" y="5957"/>
                </a:lnTo>
                <a:lnTo>
                  <a:pt x="6820" y="6045"/>
                </a:lnTo>
                <a:lnTo>
                  <a:pt x="6733" y="6122"/>
                </a:lnTo>
                <a:lnTo>
                  <a:pt x="6646" y="6200"/>
                </a:lnTo>
                <a:lnTo>
                  <a:pt x="6549" y="6248"/>
                </a:lnTo>
                <a:lnTo>
                  <a:pt x="6452" y="6297"/>
                </a:lnTo>
                <a:lnTo>
                  <a:pt x="6345" y="6336"/>
                </a:lnTo>
                <a:lnTo>
                  <a:pt x="6248" y="6365"/>
                </a:lnTo>
                <a:lnTo>
                  <a:pt x="6122" y="6384"/>
                </a:lnTo>
                <a:lnTo>
                  <a:pt x="6015" y="6384"/>
                </a:lnTo>
                <a:lnTo>
                  <a:pt x="5899" y="6384"/>
                </a:lnTo>
                <a:lnTo>
                  <a:pt x="5782" y="6365"/>
                </a:lnTo>
                <a:lnTo>
                  <a:pt x="5676" y="6336"/>
                </a:lnTo>
                <a:lnTo>
                  <a:pt x="5579" y="6297"/>
                </a:lnTo>
                <a:lnTo>
                  <a:pt x="5472" y="6248"/>
                </a:lnTo>
                <a:lnTo>
                  <a:pt x="5385" y="6200"/>
                </a:lnTo>
                <a:lnTo>
                  <a:pt x="5288" y="6122"/>
                </a:lnTo>
                <a:lnTo>
                  <a:pt x="5200" y="6045"/>
                </a:lnTo>
                <a:lnTo>
                  <a:pt x="5123" y="5957"/>
                </a:lnTo>
                <a:lnTo>
                  <a:pt x="5055" y="5870"/>
                </a:lnTo>
                <a:lnTo>
                  <a:pt x="4997" y="5763"/>
                </a:lnTo>
                <a:lnTo>
                  <a:pt x="4948" y="5666"/>
                </a:lnTo>
                <a:lnTo>
                  <a:pt x="4919" y="5560"/>
                </a:lnTo>
                <a:lnTo>
                  <a:pt x="4890" y="5453"/>
                </a:lnTo>
                <a:lnTo>
                  <a:pt x="4870" y="5346"/>
                </a:lnTo>
                <a:lnTo>
                  <a:pt x="4870" y="5220"/>
                </a:lnTo>
                <a:lnTo>
                  <a:pt x="3153" y="5220"/>
                </a:lnTo>
                <a:lnTo>
                  <a:pt x="3144" y="5346"/>
                </a:lnTo>
                <a:lnTo>
                  <a:pt x="3124" y="5453"/>
                </a:lnTo>
                <a:lnTo>
                  <a:pt x="3105" y="5560"/>
                </a:lnTo>
                <a:lnTo>
                  <a:pt x="3076" y="5666"/>
                </a:lnTo>
                <a:lnTo>
                  <a:pt x="3018" y="5763"/>
                </a:lnTo>
                <a:lnTo>
                  <a:pt x="2959" y="5870"/>
                </a:lnTo>
                <a:lnTo>
                  <a:pt x="2901" y="5957"/>
                </a:lnTo>
                <a:lnTo>
                  <a:pt x="2814" y="6045"/>
                </a:lnTo>
                <a:lnTo>
                  <a:pt x="2736" y="6122"/>
                </a:lnTo>
                <a:lnTo>
                  <a:pt x="2639" y="6200"/>
                </a:lnTo>
                <a:lnTo>
                  <a:pt x="2552" y="6248"/>
                </a:lnTo>
                <a:lnTo>
                  <a:pt x="2445" y="6297"/>
                </a:lnTo>
                <a:lnTo>
                  <a:pt x="2338" y="6336"/>
                </a:lnTo>
                <a:lnTo>
                  <a:pt x="2241" y="6365"/>
                </a:lnTo>
                <a:lnTo>
                  <a:pt x="2115" y="6384"/>
                </a:lnTo>
                <a:lnTo>
                  <a:pt x="2009" y="6384"/>
                </a:lnTo>
                <a:lnTo>
                  <a:pt x="1892" y="6384"/>
                </a:lnTo>
                <a:lnTo>
                  <a:pt x="1776" y="6365"/>
                </a:lnTo>
                <a:lnTo>
                  <a:pt x="1669" y="6336"/>
                </a:lnTo>
                <a:lnTo>
                  <a:pt x="1572" y="6297"/>
                </a:lnTo>
                <a:lnTo>
                  <a:pt x="1465" y="6248"/>
                </a:lnTo>
                <a:lnTo>
                  <a:pt x="1378" y="6200"/>
                </a:lnTo>
                <a:lnTo>
                  <a:pt x="1281" y="6122"/>
                </a:lnTo>
                <a:lnTo>
                  <a:pt x="1203" y="6045"/>
                </a:lnTo>
                <a:lnTo>
                  <a:pt x="1116" y="5957"/>
                </a:lnTo>
                <a:lnTo>
                  <a:pt x="1058" y="5870"/>
                </a:lnTo>
                <a:lnTo>
                  <a:pt x="990" y="5763"/>
                </a:lnTo>
                <a:lnTo>
                  <a:pt x="941" y="5666"/>
                </a:lnTo>
                <a:lnTo>
                  <a:pt x="912" y="5560"/>
                </a:lnTo>
                <a:lnTo>
                  <a:pt x="893" y="5453"/>
                </a:lnTo>
                <a:lnTo>
                  <a:pt x="874" y="5346"/>
                </a:lnTo>
                <a:lnTo>
                  <a:pt x="864" y="5220"/>
                </a:lnTo>
                <a:lnTo>
                  <a:pt x="582" y="5220"/>
                </a:lnTo>
                <a:lnTo>
                  <a:pt x="573" y="5220"/>
                </a:lnTo>
                <a:lnTo>
                  <a:pt x="544" y="5220"/>
                </a:lnTo>
                <a:lnTo>
                  <a:pt x="515" y="5220"/>
                </a:lnTo>
                <a:lnTo>
                  <a:pt x="476" y="5220"/>
                </a:lnTo>
                <a:lnTo>
                  <a:pt x="408" y="5220"/>
                </a:lnTo>
                <a:lnTo>
                  <a:pt x="379" y="5220"/>
                </a:lnTo>
                <a:lnTo>
                  <a:pt x="359" y="5220"/>
                </a:lnTo>
                <a:lnTo>
                  <a:pt x="321" y="5220"/>
                </a:lnTo>
                <a:lnTo>
                  <a:pt x="262" y="5220"/>
                </a:lnTo>
                <a:lnTo>
                  <a:pt x="204" y="5210"/>
                </a:lnTo>
                <a:lnTo>
                  <a:pt x="156" y="5191"/>
                </a:lnTo>
                <a:lnTo>
                  <a:pt x="117" y="5172"/>
                </a:lnTo>
                <a:lnTo>
                  <a:pt x="88" y="5133"/>
                </a:lnTo>
                <a:lnTo>
                  <a:pt x="49" y="5104"/>
                </a:lnTo>
                <a:lnTo>
                  <a:pt x="20" y="5055"/>
                </a:lnTo>
                <a:lnTo>
                  <a:pt x="10" y="4997"/>
                </a:lnTo>
                <a:lnTo>
                  <a:pt x="0" y="4929"/>
                </a:lnTo>
                <a:lnTo>
                  <a:pt x="10" y="4881"/>
                </a:lnTo>
                <a:lnTo>
                  <a:pt x="29" y="4822"/>
                </a:lnTo>
                <a:lnTo>
                  <a:pt x="59" y="4774"/>
                </a:lnTo>
                <a:lnTo>
                  <a:pt x="88" y="4725"/>
                </a:lnTo>
                <a:lnTo>
                  <a:pt x="136" y="4696"/>
                </a:lnTo>
                <a:lnTo>
                  <a:pt x="185" y="4667"/>
                </a:lnTo>
                <a:lnTo>
                  <a:pt x="243" y="4648"/>
                </a:lnTo>
                <a:lnTo>
                  <a:pt x="291" y="4648"/>
                </a:lnTo>
                <a:lnTo>
                  <a:pt x="291" y="3192"/>
                </a:lnTo>
                <a:lnTo>
                  <a:pt x="291" y="3173"/>
                </a:lnTo>
                <a:lnTo>
                  <a:pt x="291" y="3134"/>
                </a:lnTo>
                <a:lnTo>
                  <a:pt x="291" y="3086"/>
                </a:lnTo>
                <a:lnTo>
                  <a:pt x="282" y="3037"/>
                </a:lnTo>
                <a:lnTo>
                  <a:pt x="282" y="2979"/>
                </a:lnTo>
                <a:lnTo>
                  <a:pt x="282" y="2921"/>
                </a:lnTo>
                <a:lnTo>
                  <a:pt x="282" y="2892"/>
                </a:lnTo>
                <a:lnTo>
                  <a:pt x="282" y="2863"/>
                </a:lnTo>
                <a:lnTo>
                  <a:pt x="291" y="2795"/>
                </a:lnTo>
                <a:lnTo>
                  <a:pt x="291" y="2746"/>
                </a:lnTo>
                <a:lnTo>
                  <a:pt x="301" y="2707"/>
                </a:lnTo>
                <a:lnTo>
                  <a:pt x="311" y="2610"/>
                </a:lnTo>
                <a:lnTo>
                  <a:pt x="330" y="2542"/>
                </a:lnTo>
                <a:lnTo>
                  <a:pt x="359" y="2475"/>
                </a:lnTo>
                <a:lnTo>
                  <a:pt x="398" y="2397"/>
                </a:lnTo>
                <a:lnTo>
                  <a:pt x="437" y="2329"/>
                </a:lnTo>
                <a:lnTo>
                  <a:pt x="495" y="2261"/>
                </a:lnTo>
                <a:lnTo>
                  <a:pt x="1378" y="1369"/>
                </a:lnTo>
                <a:lnTo>
                  <a:pt x="1426" y="1320"/>
                </a:lnTo>
                <a:lnTo>
                  <a:pt x="1475" y="1281"/>
                </a:lnTo>
                <a:lnTo>
                  <a:pt x="1533" y="1243"/>
                </a:lnTo>
                <a:lnTo>
                  <a:pt x="1601" y="1223"/>
                </a:lnTo>
                <a:lnTo>
                  <a:pt x="1737" y="1175"/>
                </a:lnTo>
                <a:lnTo>
                  <a:pt x="1795" y="1165"/>
                </a:lnTo>
                <a:lnTo>
                  <a:pt x="1863" y="1155"/>
                </a:lnTo>
                <a:lnTo>
                  <a:pt x="2581" y="1155"/>
                </a:lnTo>
                <a:lnTo>
                  <a:pt x="2581" y="282"/>
                </a:lnTo>
                <a:lnTo>
                  <a:pt x="2591" y="224"/>
                </a:lnTo>
                <a:lnTo>
                  <a:pt x="2600" y="175"/>
                </a:lnTo>
                <a:lnTo>
                  <a:pt x="2620" y="127"/>
                </a:lnTo>
                <a:lnTo>
                  <a:pt x="2659" y="78"/>
                </a:lnTo>
                <a:lnTo>
                  <a:pt x="2707" y="49"/>
                </a:lnTo>
                <a:lnTo>
                  <a:pt x="2756" y="20"/>
                </a:lnTo>
                <a:lnTo>
                  <a:pt x="2804" y="1"/>
                </a:lnTo>
                <a:lnTo>
                  <a:pt x="2862" y="1"/>
                </a:lnTo>
                <a:lnTo>
                  <a:pt x="7441" y="1"/>
                </a:lnTo>
                <a:lnTo>
                  <a:pt x="7500" y="1"/>
                </a:lnTo>
                <a:lnTo>
                  <a:pt x="7548" y="20"/>
                </a:lnTo>
                <a:lnTo>
                  <a:pt x="7597" y="49"/>
                </a:lnTo>
                <a:lnTo>
                  <a:pt x="7635" y="78"/>
                </a:lnTo>
                <a:lnTo>
                  <a:pt x="7674" y="127"/>
                </a:lnTo>
                <a:lnTo>
                  <a:pt x="7703" y="175"/>
                </a:lnTo>
                <a:lnTo>
                  <a:pt x="7723" y="224"/>
                </a:lnTo>
                <a:close/>
              </a:path>
            </a:pathLst>
          </a:custGeom>
          <a:solidFill>
            <a:srgbClr val="EA2E49"/>
          </a:solidFill>
          <a:ln>
            <a:noFill/>
          </a:ln>
        </p:spPr>
        <p:txBody>
          <a:bodyPr wrap="square" lIns="91425" tIns="91425" rIns="91425" bIns="91425" anchor="ctr" anchorCtr="0">
            <a:noAutofit/>
          </a:bodyPr>
          <a:lstStyle/>
          <a:p>
            <a:pPr lvl="0">
              <a:spcBef>
                <a:spcPts val="0"/>
              </a:spcBef>
              <a:buNone/>
            </a:pPr>
            <a:endParaRPr>
              <a:latin typeface="+mj-lt"/>
            </a:endParaRPr>
          </a:p>
        </p:txBody>
      </p:sp>
      <p:sp>
        <p:nvSpPr>
          <p:cNvPr id="149" name="Shape 149"/>
          <p:cNvSpPr/>
          <p:nvPr/>
        </p:nvSpPr>
        <p:spPr>
          <a:xfrm>
            <a:off x="5599179" y="3971871"/>
            <a:ext cx="862199" cy="751333"/>
          </a:xfrm>
          <a:custGeom>
            <a:avLst/>
            <a:gdLst/>
            <a:ahLst/>
            <a:cxnLst/>
            <a:rect l="0" t="0" r="0" b="0"/>
            <a:pathLst>
              <a:path w="8005" h="6976" extrusionOk="0">
                <a:moveTo>
                  <a:pt x="4104" y="3299"/>
                </a:moveTo>
                <a:lnTo>
                  <a:pt x="4133" y="3260"/>
                </a:lnTo>
                <a:lnTo>
                  <a:pt x="4143" y="3202"/>
                </a:lnTo>
                <a:lnTo>
                  <a:pt x="4133" y="3134"/>
                </a:lnTo>
                <a:lnTo>
                  <a:pt x="4104" y="3095"/>
                </a:lnTo>
                <a:lnTo>
                  <a:pt x="4056" y="3066"/>
                </a:lnTo>
                <a:lnTo>
                  <a:pt x="4007" y="3056"/>
                </a:lnTo>
                <a:lnTo>
                  <a:pt x="3929" y="3056"/>
                </a:lnTo>
                <a:lnTo>
                  <a:pt x="3852" y="3066"/>
                </a:lnTo>
                <a:lnTo>
                  <a:pt x="3794" y="3085"/>
                </a:lnTo>
                <a:lnTo>
                  <a:pt x="3726" y="3114"/>
                </a:lnTo>
                <a:lnTo>
                  <a:pt x="3668" y="3134"/>
                </a:lnTo>
                <a:lnTo>
                  <a:pt x="3600" y="3173"/>
                </a:lnTo>
                <a:lnTo>
                  <a:pt x="3541" y="3221"/>
                </a:lnTo>
                <a:lnTo>
                  <a:pt x="3493" y="3270"/>
                </a:lnTo>
                <a:lnTo>
                  <a:pt x="3444" y="3318"/>
                </a:lnTo>
                <a:lnTo>
                  <a:pt x="3396" y="3376"/>
                </a:lnTo>
                <a:lnTo>
                  <a:pt x="3367" y="3444"/>
                </a:lnTo>
                <a:lnTo>
                  <a:pt x="3338" y="3503"/>
                </a:lnTo>
                <a:lnTo>
                  <a:pt x="3318" y="3570"/>
                </a:lnTo>
                <a:lnTo>
                  <a:pt x="3299" y="3629"/>
                </a:lnTo>
                <a:lnTo>
                  <a:pt x="3289" y="3706"/>
                </a:lnTo>
                <a:lnTo>
                  <a:pt x="3289" y="3774"/>
                </a:lnTo>
                <a:lnTo>
                  <a:pt x="3299" y="3842"/>
                </a:lnTo>
                <a:lnTo>
                  <a:pt x="3309" y="3862"/>
                </a:lnTo>
                <a:lnTo>
                  <a:pt x="3328" y="3891"/>
                </a:lnTo>
                <a:lnTo>
                  <a:pt x="3367" y="3920"/>
                </a:lnTo>
                <a:lnTo>
                  <a:pt x="3425" y="3929"/>
                </a:lnTo>
                <a:lnTo>
                  <a:pt x="3483" y="3920"/>
                </a:lnTo>
                <a:lnTo>
                  <a:pt x="3522" y="3891"/>
                </a:lnTo>
                <a:lnTo>
                  <a:pt x="3561" y="3842"/>
                </a:lnTo>
                <a:lnTo>
                  <a:pt x="3571" y="3774"/>
                </a:lnTo>
                <a:lnTo>
                  <a:pt x="3580" y="3697"/>
                </a:lnTo>
                <a:lnTo>
                  <a:pt x="3600" y="3609"/>
                </a:lnTo>
                <a:lnTo>
                  <a:pt x="3638" y="3541"/>
                </a:lnTo>
                <a:lnTo>
                  <a:pt x="3687" y="3464"/>
                </a:lnTo>
                <a:lnTo>
                  <a:pt x="3755" y="3415"/>
                </a:lnTo>
                <a:lnTo>
                  <a:pt x="3842" y="3376"/>
                </a:lnTo>
                <a:lnTo>
                  <a:pt x="3910" y="3357"/>
                </a:lnTo>
                <a:lnTo>
                  <a:pt x="4007" y="3347"/>
                </a:lnTo>
                <a:lnTo>
                  <a:pt x="4056" y="3338"/>
                </a:lnTo>
                <a:close/>
                <a:moveTo>
                  <a:pt x="4812" y="2969"/>
                </a:moveTo>
                <a:lnTo>
                  <a:pt x="4880" y="3056"/>
                </a:lnTo>
                <a:lnTo>
                  <a:pt x="4958" y="3144"/>
                </a:lnTo>
                <a:lnTo>
                  <a:pt x="5006" y="3250"/>
                </a:lnTo>
                <a:lnTo>
                  <a:pt x="5055" y="3347"/>
                </a:lnTo>
                <a:lnTo>
                  <a:pt x="5094" y="3444"/>
                </a:lnTo>
                <a:lnTo>
                  <a:pt x="5123" y="3561"/>
                </a:lnTo>
                <a:lnTo>
                  <a:pt x="5142" y="3667"/>
                </a:lnTo>
                <a:lnTo>
                  <a:pt x="5142" y="3784"/>
                </a:lnTo>
                <a:lnTo>
                  <a:pt x="5142" y="3910"/>
                </a:lnTo>
                <a:lnTo>
                  <a:pt x="5123" y="4017"/>
                </a:lnTo>
                <a:lnTo>
                  <a:pt x="5094" y="4123"/>
                </a:lnTo>
                <a:lnTo>
                  <a:pt x="5055" y="4240"/>
                </a:lnTo>
                <a:lnTo>
                  <a:pt x="5006" y="4337"/>
                </a:lnTo>
                <a:lnTo>
                  <a:pt x="4958" y="4434"/>
                </a:lnTo>
                <a:lnTo>
                  <a:pt x="4880" y="4521"/>
                </a:lnTo>
                <a:lnTo>
                  <a:pt x="4812" y="4609"/>
                </a:lnTo>
                <a:lnTo>
                  <a:pt x="4715" y="4686"/>
                </a:lnTo>
                <a:lnTo>
                  <a:pt x="4628" y="4764"/>
                </a:lnTo>
                <a:lnTo>
                  <a:pt x="4531" y="4812"/>
                </a:lnTo>
                <a:lnTo>
                  <a:pt x="4434" y="4861"/>
                </a:lnTo>
                <a:lnTo>
                  <a:pt x="4337" y="4909"/>
                </a:lnTo>
                <a:lnTo>
                  <a:pt x="4221" y="4929"/>
                </a:lnTo>
                <a:lnTo>
                  <a:pt x="4114" y="4938"/>
                </a:lnTo>
                <a:lnTo>
                  <a:pt x="4007" y="4948"/>
                </a:lnTo>
                <a:lnTo>
                  <a:pt x="3881" y="4938"/>
                </a:lnTo>
                <a:lnTo>
                  <a:pt x="3774" y="4929"/>
                </a:lnTo>
                <a:lnTo>
                  <a:pt x="3668" y="4909"/>
                </a:lnTo>
                <a:lnTo>
                  <a:pt x="3561" y="4861"/>
                </a:lnTo>
                <a:lnTo>
                  <a:pt x="3464" y="4812"/>
                </a:lnTo>
                <a:lnTo>
                  <a:pt x="3367" y="4764"/>
                </a:lnTo>
                <a:lnTo>
                  <a:pt x="3280" y="4686"/>
                </a:lnTo>
                <a:lnTo>
                  <a:pt x="3182" y="4609"/>
                </a:lnTo>
                <a:lnTo>
                  <a:pt x="3115" y="4521"/>
                </a:lnTo>
                <a:lnTo>
                  <a:pt x="3037" y="4434"/>
                </a:lnTo>
                <a:lnTo>
                  <a:pt x="2988" y="4337"/>
                </a:lnTo>
                <a:lnTo>
                  <a:pt x="2940" y="4240"/>
                </a:lnTo>
                <a:lnTo>
                  <a:pt x="2901" y="4123"/>
                </a:lnTo>
                <a:lnTo>
                  <a:pt x="2872" y="4017"/>
                </a:lnTo>
                <a:lnTo>
                  <a:pt x="2853" y="3910"/>
                </a:lnTo>
                <a:lnTo>
                  <a:pt x="2853" y="3784"/>
                </a:lnTo>
                <a:lnTo>
                  <a:pt x="2853" y="3667"/>
                </a:lnTo>
                <a:lnTo>
                  <a:pt x="2872" y="3561"/>
                </a:lnTo>
                <a:lnTo>
                  <a:pt x="2901" y="3444"/>
                </a:lnTo>
                <a:lnTo>
                  <a:pt x="2940" y="3347"/>
                </a:lnTo>
                <a:lnTo>
                  <a:pt x="2988" y="3250"/>
                </a:lnTo>
                <a:lnTo>
                  <a:pt x="3037" y="3144"/>
                </a:lnTo>
                <a:lnTo>
                  <a:pt x="3115" y="3056"/>
                </a:lnTo>
                <a:lnTo>
                  <a:pt x="3182" y="2969"/>
                </a:lnTo>
                <a:lnTo>
                  <a:pt x="3280" y="2891"/>
                </a:lnTo>
                <a:lnTo>
                  <a:pt x="3367" y="2814"/>
                </a:lnTo>
                <a:lnTo>
                  <a:pt x="3464" y="2765"/>
                </a:lnTo>
                <a:lnTo>
                  <a:pt x="3561" y="2717"/>
                </a:lnTo>
                <a:lnTo>
                  <a:pt x="3668" y="2678"/>
                </a:lnTo>
                <a:lnTo>
                  <a:pt x="3774" y="2649"/>
                </a:lnTo>
                <a:lnTo>
                  <a:pt x="3881" y="2629"/>
                </a:lnTo>
                <a:lnTo>
                  <a:pt x="4007" y="2620"/>
                </a:lnTo>
                <a:lnTo>
                  <a:pt x="4114" y="2629"/>
                </a:lnTo>
                <a:lnTo>
                  <a:pt x="4221" y="2649"/>
                </a:lnTo>
                <a:lnTo>
                  <a:pt x="4337" y="2678"/>
                </a:lnTo>
                <a:lnTo>
                  <a:pt x="4434" y="2717"/>
                </a:lnTo>
                <a:lnTo>
                  <a:pt x="4531" y="2765"/>
                </a:lnTo>
                <a:lnTo>
                  <a:pt x="4628" y="2814"/>
                </a:lnTo>
                <a:lnTo>
                  <a:pt x="4715" y="2891"/>
                </a:lnTo>
                <a:close/>
                <a:moveTo>
                  <a:pt x="563" y="6394"/>
                </a:moveTo>
                <a:lnTo>
                  <a:pt x="7432" y="6394"/>
                </a:lnTo>
                <a:lnTo>
                  <a:pt x="7432" y="5811"/>
                </a:lnTo>
                <a:lnTo>
                  <a:pt x="563" y="5811"/>
                </a:lnTo>
                <a:close/>
                <a:moveTo>
                  <a:pt x="5210" y="5026"/>
                </a:moveTo>
                <a:lnTo>
                  <a:pt x="5336" y="4890"/>
                </a:lnTo>
                <a:lnTo>
                  <a:pt x="5433" y="4754"/>
                </a:lnTo>
                <a:lnTo>
                  <a:pt x="5511" y="4609"/>
                </a:lnTo>
                <a:lnTo>
                  <a:pt x="5588" y="4453"/>
                </a:lnTo>
                <a:lnTo>
                  <a:pt x="5647" y="4298"/>
                </a:lnTo>
                <a:lnTo>
                  <a:pt x="5676" y="4133"/>
                </a:lnTo>
                <a:lnTo>
                  <a:pt x="5705" y="3968"/>
                </a:lnTo>
                <a:lnTo>
                  <a:pt x="5715" y="3784"/>
                </a:lnTo>
                <a:lnTo>
                  <a:pt x="5705" y="3609"/>
                </a:lnTo>
                <a:lnTo>
                  <a:pt x="5676" y="3444"/>
                </a:lnTo>
                <a:lnTo>
                  <a:pt x="5647" y="3279"/>
                </a:lnTo>
                <a:lnTo>
                  <a:pt x="5588" y="3114"/>
                </a:lnTo>
                <a:lnTo>
                  <a:pt x="5511" y="2969"/>
                </a:lnTo>
                <a:lnTo>
                  <a:pt x="5433" y="2823"/>
                </a:lnTo>
                <a:lnTo>
                  <a:pt x="5336" y="2688"/>
                </a:lnTo>
                <a:lnTo>
                  <a:pt x="5210" y="2562"/>
                </a:lnTo>
                <a:lnTo>
                  <a:pt x="5084" y="2445"/>
                </a:lnTo>
                <a:lnTo>
                  <a:pt x="4948" y="2329"/>
                </a:lnTo>
                <a:lnTo>
                  <a:pt x="4812" y="2251"/>
                </a:lnTo>
                <a:lnTo>
                  <a:pt x="4657" y="2173"/>
                </a:lnTo>
                <a:lnTo>
                  <a:pt x="4512" y="2115"/>
                </a:lnTo>
                <a:lnTo>
                  <a:pt x="4347" y="2086"/>
                </a:lnTo>
                <a:lnTo>
                  <a:pt x="4172" y="2057"/>
                </a:lnTo>
                <a:lnTo>
                  <a:pt x="4007" y="2047"/>
                </a:lnTo>
                <a:lnTo>
                  <a:pt x="3832" y="2057"/>
                </a:lnTo>
                <a:lnTo>
                  <a:pt x="3658" y="2086"/>
                </a:lnTo>
                <a:lnTo>
                  <a:pt x="3503" y="2115"/>
                </a:lnTo>
                <a:lnTo>
                  <a:pt x="3347" y="2173"/>
                </a:lnTo>
                <a:lnTo>
                  <a:pt x="3192" y="2251"/>
                </a:lnTo>
                <a:lnTo>
                  <a:pt x="3047" y="2329"/>
                </a:lnTo>
                <a:lnTo>
                  <a:pt x="2911" y="2445"/>
                </a:lnTo>
                <a:lnTo>
                  <a:pt x="2785" y="2562"/>
                </a:lnTo>
                <a:lnTo>
                  <a:pt x="2668" y="2688"/>
                </a:lnTo>
                <a:lnTo>
                  <a:pt x="2562" y="2823"/>
                </a:lnTo>
                <a:lnTo>
                  <a:pt x="2484" y="2969"/>
                </a:lnTo>
                <a:lnTo>
                  <a:pt x="2406" y="3114"/>
                </a:lnTo>
                <a:lnTo>
                  <a:pt x="2348" y="3279"/>
                </a:lnTo>
                <a:lnTo>
                  <a:pt x="2319" y="3444"/>
                </a:lnTo>
                <a:lnTo>
                  <a:pt x="2290" y="3609"/>
                </a:lnTo>
                <a:lnTo>
                  <a:pt x="2280" y="3784"/>
                </a:lnTo>
                <a:lnTo>
                  <a:pt x="2290" y="3968"/>
                </a:lnTo>
                <a:lnTo>
                  <a:pt x="2319" y="4133"/>
                </a:lnTo>
                <a:lnTo>
                  <a:pt x="2348" y="4298"/>
                </a:lnTo>
                <a:lnTo>
                  <a:pt x="2406" y="4453"/>
                </a:lnTo>
                <a:lnTo>
                  <a:pt x="2484" y="4609"/>
                </a:lnTo>
                <a:lnTo>
                  <a:pt x="2562" y="4754"/>
                </a:lnTo>
                <a:lnTo>
                  <a:pt x="2668" y="4890"/>
                </a:lnTo>
                <a:lnTo>
                  <a:pt x="2785" y="5026"/>
                </a:lnTo>
                <a:lnTo>
                  <a:pt x="2911" y="5142"/>
                </a:lnTo>
                <a:lnTo>
                  <a:pt x="3047" y="5249"/>
                </a:lnTo>
                <a:lnTo>
                  <a:pt x="3192" y="5336"/>
                </a:lnTo>
                <a:lnTo>
                  <a:pt x="3347" y="5404"/>
                </a:lnTo>
                <a:lnTo>
                  <a:pt x="3503" y="5453"/>
                </a:lnTo>
                <a:lnTo>
                  <a:pt x="3658" y="5501"/>
                </a:lnTo>
                <a:lnTo>
                  <a:pt x="3832" y="5520"/>
                </a:lnTo>
                <a:lnTo>
                  <a:pt x="4007" y="5530"/>
                </a:lnTo>
                <a:lnTo>
                  <a:pt x="4172" y="5520"/>
                </a:lnTo>
                <a:lnTo>
                  <a:pt x="4347" y="5501"/>
                </a:lnTo>
                <a:lnTo>
                  <a:pt x="4512" y="5453"/>
                </a:lnTo>
                <a:lnTo>
                  <a:pt x="4657" y="5404"/>
                </a:lnTo>
                <a:lnTo>
                  <a:pt x="4812" y="5336"/>
                </a:lnTo>
                <a:lnTo>
                  <a:pt x="4948" y="5249"/>
                </a:lnTo>
                <a:lnTo>
                  <a:pt x="5084" y="5142"/>
                </a:lnTo>
                <a:close/>
                <a:moveTo>
                  <a:pt x="1145" y="873"/>
                </a:moveTo>
                <a:lnTo>
                  <a:pt x="2853" y="873"/>
                </a:lnTo>
                <a:lnTo>
                  <a:pt x="2853" y="291"/>
                </a:lnTo>
                <a:lnTo>
                  <a:pt x="1145" y="291"/>
                </a:lnTo>
                <a:close/>
                <a:moveTo>
                  <a:pt x="563" y="1747"/>
                </a:moveTo>
                <a:lnTo>
                  <a:pt x="7432" y="1747"/>
                </a:lnTo>
                <a:lnTo>
                  <a:pt x="7432" y="1213"/>
                </a:lnTo>
                <a:lnTo>
                  <a:pt x="7432" y="592"/>
                </a:lnTo>
                <a:lnTo>
                  <a:pt x="3726" y="592"/>
                </a:lnTo>
                <a:lnTo>
                  <a:pt x="3444" y="1165"/>
                </a:lnTo>
                <a:lnTo>
                  <a:pt x="563" y="1165"/>
                </a:lnTo>
                <a:close/>
                <a:moveTo>
                  <a:pt x="8004" y="592"/>
                </a:moveTo>
                <a:lnTo>
                  <a:pt x="8004" y="6394"/>
                </a:lnTo>
                <a:lnTo>
                  <a:pt x="7994" y="6510"/>
                </a:lnTo>
                <a:lnTo>
                  <a:pt x="7965" y="6617"/>
                </a:lnTo>
                <a:lnTo>
                  <a:pt x="7907" y="6714"/>
                </a:lnTo>
                <a:lnTo>
                  <a:pt x="7839" y="6801"/>
                </a:lnTo>
                <a:lnTo>
                  <a:pt x="7742" y="6879"/>
                </a:lnTo>
                <a:lnTo>
                  <a:pt x="7655" y="6937"/>
                </a:lnTo>
                <a:lnTo>
                  <a:pt x="7538" y="6966"/>
                </a:lnTo>
                <a:lnTo>
                  <a:pt x="7432" y="6976"/>
                </a:lnTo>
                <a:lnTo>
                  <a:pt x="563" y="6976"/>
                </a:lnTo>
                <a:lnTo>
                  <a:pt x="456" y="6966"/>
                </a:lnTo>
                <a:lnTo>
                  <a:pt x="350" y="6937"/>
                </a:lnTo>
                <a:lnTo>
                  <a:pt x="253" y="6879"/>
                </a:lnTo>
                <a:lnTo>
                  <a:pt x="165" y="6801"/>
                </a:lnTo>
                <a:lnTo>
                  <a:pt x="88" y="6714"/>
                </a:lnTo>
                <a:lnTo>
                  <a:pt x="30" y="6617"/>
                </a:lnTo>
                <a:lnTo>
                  <a:pt x="10" y="6510"/>
                </a:lnTo>
                <a:lnTo>
                  <a:pt x="0" y="6394"/>
                </a:lnTo>
                <a:lnTo>
                  <a:pt x="0" y="592"/>
                </a:lnTo>
                <a:lnTo>
                  <a:pt x="10" y="466"/>
                </a:lnTo>
                <a:lnTo>
                  <a:pt x="30" y="359"/>
                </a:lnTo>
                <a:lnTo>
                  <a:pt x="88" y="272"/>
                </a:lnTo>
                <a:lnTo>
                  <a:pt x="165" y="175"/>
                </a:lnTo>
                <a:lnTo>
                  <a:pt x="253" y="107"/>
                </a:lnTo>
                <a:lnTo>
                  <a:pt x="350" y="49"/>
                </a:lnTo>
                <a:lnTo>
                  <a:pt x="456" y="10"/>
                </a:lnTo>
                <a:lnTo>
                  <a:pt x="563" y="0"/>
                </a:lnTo>
                <a:lnTo>
                  <a:pt x="7432" y="0"/>
                </a:lnTo>
                <a:lnTo>
                  <a:pt x="7538" y="10"/>
                </a:lnTo>
                <a:lnTo>
                  <a:pt x="7655" y="49"/>
                </a:lnTo>
                <a:lnTo>
                  <a:pt x="7742" y="107"/>
                </a:lnTo>
                <a:lnTo>
                  <a:pt x="7839" y="175"/>
                </a:lnTo>
                <a:lnTo>
                  <a:pt x="7907" y="272"/>
                </a:lnTo>
                <a:lnTo>
                  <a:pt x="7965" y="359"/>
                </a:lnTo>
                <a:lnTo>
                  <a:pt x="7994" y="466"/>
                </a:lnTo>
                <a:close/>
              </a:path>
            </a:pathLst>
          </a:custGeom>
          <a:solidFill>
            <a:srgbClr val="EA2E49"/>
          </a:solidFill>
          <a:ln>
            <a:noFill/>
          </a:ln>
        </p:spPr>
        <p:txBody>
          <a:bodyPr wrap="square" lIns="91425" tIns="91425" rIns="91425" bIns="91425" anchor="ctr" anchorCtr="0">
            <a:noAutofit/>
          </a:bodyPr>
          <a:lstStyle/>
          <a:p>
            <a:pPr lvl="0">
              <a:spcBef>
                <a:spcPts val="0"/>
              </a:spcBef>
              <a:buNone/>
            </a:pPr>
            <a:endParaRPr>
              <a:latin typeface="+mj-lt"/>
            </a:endParaRPr>
          </a:p>
        </p:txBody>
      </p:sp>
      <p:sp>
        <p:nvSpPr>
          <p:cNvPr id="150" name="Shape 150"/>
          <p:cNvSpPr/>
          <p:nvPr/>
        </p:nvSpPr>
        <p:spPr>
          <a:xfrm>
            <a:off x="5693422" y="1313435"/>
            <a:ext cx="673706" cy="711883"/>
          </a:xfrm>
          <a:custGeom>
            <a:avLst/>
            <a:gdLst/>
            <a:ahLst/>
            <a:cxnLst/>
            <a:rect l="0" t="0" r="0" b="0"/>
            <a:pathLst>
              <a:path w="7694" h="8130" extrusionOk="0">
                <a:moveTo>
                  <a:pt x="7645" y="1349"/>
                </a:moveTo>
                <a:lnTo>
                  <a:pt x="7684" y="1397"/>
                </a:lnTo>
                <a:lnTo>
                  <a:pt x="7694" y="1455"/>
                </a:lnTo>
                <a:lnTo>
                  <a:pt x="7684" y="1513"/>
                </a:lnTo>
                <a:lnTo>
                  <a:pt x="7645" y="1562"/>
                </a:lnTo>
                <a:lnTo>
                  <a:pt x="7015" y="2202"/>
                </a:lnTo>
                <a:lnTo>
                  <a:pt x="6947" y="2251"/>
                </a:lnTo>
                <a:lnTo>
                  <a:pt x="6879" y="2290"/>
                </a:lnTo>
                <a:lnTo>
                  <a:pt x="6792" y="2319"/>
                </a:lnTo>
                <a:lnTo>
                  <a:pt x="6714" y="2328"/>
                </a:lnTo>
                <a:lnTo>
                  <a:pt x="699" y="2328"/>
                </a:lnTo>
                <a:lnTo>
                  <a:pt x="641" y="2319"/>
                </a:lnTo>
                <a:lnTo>
                  <a:pt x="583" y="2299"/>
                </a:lnTo>
                <a:lnTo>
                  <a:pt x="544" y="2270"/>
                </a:lnTo>
                <a:lnTo>
                  <a:pt x="495" y="2231"/>
                </a:lnTo>
                <a:lnTo>
                  <a:pt x="457" y="2193"/>
                </a:lnTo>
                <a:lnTo>
                  <a:pt x="427" y="2144"/>
                </a:lnTo>
                <a:lnTo>
                  <a:pt x="408" y="2086"/>
                </a:lnTo>
                <a:lnTo>
                  <a:pt x="408" y="2037"/>
                </a:lnTo>
                <a:lnTo>
                  <a:pt x="408" y="873"/>
                </a:lnTo>
                <a:lnTo>
                  <a:pt x="408" y="815"/>
                </a:lnTo>
                <a:lnTo>
                  <a:pt x="427" y="757"/>
                </a:lnTo>
                <a:lnTo>
                  <a:pt x="457" y="718"/>
                </a:lnTo>
                <a:lnTo>
                  <a:pt x="495" y="669"/>
                </a:lnTo>
                <a:lnTo>
                  <a:pt x="544" y="631"/>
                </a:lnTo>
                <a:lnTo>
                  <a:pt x="583" y="602"/>
                </a:lnTo>
                <a:lnTo>
                  <a:pt x="641" y="582"/>
                </a:lnTo>
                <a:lnTo>
                  <a:pt x="699" y="582"/>
                </a:lnTo>
                <a:lnTo>
                  <a:pt x="3270" y="582"/>
                </a:lnTo>
                <a:lnTo>
                  <a:pt x="3270" y="291"/>
                </a:lnTo>
                <a:lnTo>
                  <a:pt x="3280" y="233"/>
                </a:lnTo>
                <a:lnTo>
                  <a:pt x="3299" y="184"/>
                </a:lnTo>
                <a:lnTo>
                  <a:pt x="3318" y="136"/>
                </a:lnTo>
                <a:lnTo>
                  <a:pt x="3357" y="87"/>
                </a:lnTo>
                <a:lnTo>
                  <a:pt x="3406" y="58"/>
                </a:lnTo>
                <a:lnTo>
                  <a:pt x="3445" y="29"/>
                </a:lnTo>
                <a:lnTo>
                  <a:pt x="3503" y="10"/>
                </a:lnTo>
                <a:lnTo>
                  <a:pt x="3561" y="0"/>
                </a:lnTo>
                <a:lnTo>
                  <a:pt x="4133" y="0"/>
                </a:lnTo>
                <a:lnTo>
                  <a:pt x="4192" y="10"/>
                </a:lnTo>
                <a:lnTo>
                  <a:pt x="4240" y="29"/>
                </a:lnTo>
                <a:lnTo>
                  <a:pt x="4289" y="58"/>
                </a:lnTo>
                <a:lnTo>
                  <a:pt x="4337" y="87"/>
                </a:lnTo>
                <a:lnTo>
                  <a:pt x="4376" y="136"/>
                </a:lnTo>
                <a:lnTo>
                  <a:pt x="4405" y="184"/>
                </a:lnTo>
                <a:lnTo>
                  <a:pt x="4405" y="233"/>
                </a:lnTo>
                <a:lnTo>
                  <a:pt x="4415" y="291"/>
                </a:lnTo>
                <a:lnTo>
                  <a:pt x="4415" y="582"/>
                </a:lnTo>
                <a:lnTo>
                  <a:pt x="6714" y="582"/>
                </a:lnTo>
                <a:lnTo>
                  <a:pt x="6792" y="592"/>
                </a:lnTo>
                <a:lnTo>
                  <a:pt x="6879" y="611"/>
                </a:lnTo>
                <a:lnTo>
                  <a:pt x="6947" y="660"/>
                </a:lnTo>
                <a:lnTo>
                  <a:pt x="7015" y="718"/>
                </a:lnTo>
                <a:close/>
                <a:moveTo>
                  <a:pt x="3270" y="5520"/>
                </a:moveTo>
                <a:lnTo>
                  <a:pt x="4415" y="5520"/>
                </a:lnTo>
                <a:lnTo>
                  <a:pt x="4415" y="7848"/>
                </a:lnTo>
                <a:lnTo>
                  <a:pt x="4405" y="7897"/>
                </a:lnTo>
                <a:lnTo>
                  <a:pt x="4405" y="7955"/>
                </a:lnTo>
                <a:lnTo>
                  <a:pt x="4376" y="8004"/>
                </a:lnTo>
                <a:lnTo>
                  <a:pt x="4337" y="8043"/>
                </a:lnTo>
                <a:lnTo>
                  <a:pt x="4289" y="8081"/>
                </a:lnTo>
                <a:lnTo>
                  <a:pt x="4240" y="8110"/>
                </a:lnTo>
                <a:lnTo>
                  <a:pt x="4192" y="8130"/>
                </a:lnTo>
                <a:lnTo>
                  <a:pt x="4133" y="8130"/>
                </a:lnTo>
                <a:lnTo>
                  <a:pt x="3561" y="8130"/>
                </a:lnTo>
                <a:lnTo>
                  <a:pt x="3503" y="8130"/>
                </a:lnTo>
                <a:lnTo>
                  <a:pt x="3445" y="8110"/>
                </a:lnTo>
                <a:lnTo>
                  <a:pt x="3406" y="8081"/>
                </a:lnTo>
                <a:lnTo>
                  <a:pt x="3357" y="8043"/>
                </a:lnTo>
                <a:lnTo>
                  <a:pt x="3318" y="8004"/>
                </a:lnTo>
                <a:lnTo>
                  <a:pt x="3299" y="7955"/>
                </a:lnTo>
                <a:lnTo>
                  <a:pt x="3280" y="7897"/>
                </a:lnTo>
                <a:lnTo>
                  <a:pt x="3270" y="7848"/>
                </a:lnTo>
                <a:close/>
                <a:moveTo>
                  <a:pt x="6995" y="3493"/>
                </a:moveTo>
                <a:lnTo>
                  <a:pt x="7053" y="3493"/>
                </a:lnTo>
                <a:lnTo>
                  <a:pt x="7102" y="3512"/>
                </a:lnTo>
                <a:lnTo>
                  <a:pt x="7150" y="3541"/>
                </a:lnTo>
                <a:lnTo>
                  <a:pt x="7199" y="3570"/>
                </a:lnTo>
                <a:lnTo>
                  <a:pt x="7228" y="3619"/>
                </a:lnTo>
                <a:lnTo>
                  <a:pt x="7257" y="3667"/>
                </a:lnTo>
                <a:lnTo>
                  <a:pt x="7277" y="3725"/>
                </a:lnTo>
                <a:lnTo>
                  <a:pt x="7277" y="3774"/>
                </a:lnTo>
                <a:lnTo>
                  <a:pt x="7277" y="4938"/>
                </a:lnTo>
                <a:lnTo>
                  <a:pt x="7277" y="4996"/>
                </a:lnTo>
                <a:lnTo>
                  <a:pt x="7257" y="5054"/>
                </a:lnTo>
                <a:lnTo>
                  <a:pt x="7228" y="5093"/>
                </a:lnTo>
                <a:lnTo>
                  <a:pt x="7199" y="5142"/>
                </a:lnTo>
                <a:lnTo>
                  <a:pt x="7150" y="5181"/>
                </a:lnTo>
                <a:lnTo>
                  <a:pt x="7102" y="5210"/>
                </a:lnTo>
                <a:lnTo>
                  <a:pt x="7053" y="5219"/>
                </a:lnTo>
                <a:lnTo>
                  <a:pt x="6995" y="5229"/>
                </a:lnTo>
                <a:lnTo>
                  <a:pt x="980" y="5229"/>
                </a:lnTo>
                <a:lnTo>
                  <a:pt x="903" y="5219"/>
                </a:lnTo>
                <a:lnTo>
                  <a:pt x="815" y="5200"/>
                </a:lnTo>
                <a:lnTo>
                  <a:pt x="738" y="5161"/>
                </a:lnTo>
                <a:lnTo>
                  <a:pt x="680" y="5103"/>
                </a:lnTo>
                <a:lnTo>
                  <a:pt x="49" y="4463"/>
                </a:lnTo>
                <a:lnTo>
                  <a:pt x="10" y="4414"/>
                </a:lnTo>
                <a:lnTo>
                  <a:pt x="1" y="4366"/>
                </a:lnTo>
                <a:lnTo>
                  <a:pt x="10" y="4307"/>
                </a:lnTo>
                <a:lnTo>
                  <a:pt x="49" y="4249"/>
                </a:lnTo>
                <a:lnTo>
                  <a:pt x="680" y="3609"/>
                </a:lnTo>
                <a:lnTo>
                  <a:pt x="738" y="3560"/>
                </a:lnTo>
                <a:lnTo>
                  <a:pt x="815" y="3522"/>
                </a:lnTo>
                <a:lnTo>
                  <a:pt x="903" y="3502"/>
                </a:lnTo>
                <a:lnTo>
                  <a:pt x="980" y="3493"/>
                </a:lnTo>
                <a:lnTo>
                  <a:pt x="3270" y="3493"/>
                </a:lnTo>
                <a:lnTo>
                  <a:pt x="3270" y="2619"/>
                </a:lnTo>
                <a:lnTo>
                  <a:pt x="4415" y="2619"/>
                </a:lnTo>
                <a:lnTo>
                  <a:pt x="4415" y="3493"/>
                </a:lnTo>
                <a:close/>
              </a:path>
            </a:pathLst>
          </a:custGeom>
          <a:solidFill>
            <a:srgbClr val="EA2E49"/>
          </a:solidFill>
          <a:ln>
            <a:noFill/>
          </a:ln>
        </p:spPr>
        <p:txBody>
          <a:bodyPr wrap="square" lIns="91425" tIns="91425" rIns="91425" bIns="91425" anchor="ctr" anchorCtr="0">
            <a:noAutofit/>
          </a:bodyPr>
          <a:lstStyle/>
          <a:p>
            <a:pPr lvl="0">
              <a:spcBef>
                <a:spcPts val="0"/>
              </a:spcBef>
              <a:buNone/>
            </a:pPr>
            <a:endParaRPr>
              <a:latin typeface="+mj-lt"/>
            </a:endParaRPr>
          </a:p>
        </p:txBody>
      </p:sp>
      <p:sp>
        <p:nvSpPr>
          <p:cNvPr id="151" name="Shape 151"/>
          <p:cNvSpPr txBox="1"/>
          <p:nvPr/>
        </p:nvSpPr>
        <p:spPr>
          <a:xfrm>
            <a:off x="277050" y="959875"/>
            <a:ext cx="4767600" cy="3733800"/>
          </a:xfrm>
          <a:prstGeom prst="rect">
            <a:avLst/>
          </a:prstGeom>
          <a:noFill/>
          <a:ln>
            <a:noFill/>
          </a:ln>
        </p:spPr>
        <p:txBody>
          <a:bodyPr wrap="square" lIns="91425" tIns="91425" rIns="91425" bIns="91425" anchor="t" anchorCtr="0">
            <a:noAutofit/>
          </a:bodyPr>
          <a:lstStyle/>
          <a:p>
            <a:pPr lvl="0">
              <a:spcBef>
                <a:spcPts val="0"/>
              </a:spcBef>
              <a:buNone/>
            </a:pPr>
            <a:r>
              <a:rPr lang="en" sz="1800" dirty="0">
                <a:solidFill>
                  <a:srgbClr val="FFFFFF"/>
                </a:solidFill>
                <a:latin typeface="+mj-lt"/>
                <a:ea typeface="Montserrat Light"/>
                <a:cs typeface="Montserrat Light"/>
                <a:sym typeface="Montserrat Light"/>
              </a:rPr>
              <a:t>Adrasha’s location information for businesses, residences, facilities, tourist attractions or anything in the city is an addition to </a:t>
            </a:r>
            <a:r>
              <a:rPr lang="en" sz="1800" dirty="0">
                <a:solidFill>
                  <a:srgbClr val="FFFFFF"/>
                </a:solidFill>
                <a:latin typeface="+mj-lt"/>
                <a:ea typeface="Montserrat Medium"/>
                <a:cs typeface="Montserrat Medium"/>
                <a:sym typeface="Montserrat Medium"/>
              </a:rPr>
              <a:t>public welfare</a:t>
            </a:r>
            <a:r>
              <a:rPr lang="en" sz="1800" dirty="0">
                <a:solidFill>
                  <a:srgbClr val="FFFFFF"/>
                </a:solidFill>
                <a:latin typeface="+mj-lt"/>
                <a:ea typeface="Montserrat Light"/>
                <a:cs typeface="Montserrat Light"/>
                <a:sym typeface="Montserrat Light"/>
              </a:rPr>
              <a:t>. </a:t>
            </a:r>
          </a:p>
          <a:p>
            <a:pPr lvl="0">
              <a:spcBef>
                <a:spcPts val="0"/>
              </a:spcBef>
              <a:buNone/>
            </a:pPr>
            <a:endParaRPr sz="1800" dirty="0">
              <a:solidFill>
                <a:srgbClr val="FFFFFF"/>
              </a:solidFill>
              <a:latin typeface="+mj-lt"/>
              <a:ea typeface="Montserrat Light"/>
              <a:cs typeface="Montserrat Light"/>
              <a:sym typeface="Montserrat Light"/>
            </a:endParaRPr>
          </a:p>
          <a:p>
            <a:pPr lvl="0">
              <a:spcBef>
                <a:spcPts val="0"/>
              </a:spcBef>
              <a:buNone/>
            </a:pPr>
            <a:r>
              <a:rPr lang="en" sz="1800" dirty="0">
                <a:solidFill>
                  <a:srgbClr val="FFFFFF"/>
                </a:solidFill>
                <a:latin typeface="+mj-lt"/>
                <a:ea typeface="Montserrat Light"/>
                <a:cs typeface="Montserrat Light"/>
                <a:sym typeface="Montserrat Light"/>
              </a:rPr>
              <a:t>All users can benefit in finding commercial and public services as well as driving navigation to POIs needed, with real-time traffic information.</a:t>
            </a:r>
          </a:p>
          <a:p>
            <a:pPr lvl="0">
              <a:spcBef>
                <a:spcPts val="0"/>
              </a:spcBef>
              <a:buNone/>
            </a:pPr>
            <a:r>
              <a:rPr lang="en" sz="1800" dirty="0">
                <a:solidFill>
                  <a:srgbClr val="FFFFFF"/>
                </a:solidFill>
                <a:latin typeface="+mj-lt"/>
                <a:ea typeface="Montserrat Light"/>
                <a:cs typeface="Montserrat Light"/>
                <a:sym typeface="Montserrat Light"/>
              </a:rPr>
              <a:t>We are providing data plus logistic services to both clients and customers. </a:t>
            </a:r>
          </a:p>
        </p:txBody>
      </p:sp>
      <p:sp>
        <p:nvSpPr>
          <p:cNvPr id="152" name="Shape 152"/>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rtl="0">
              <a:spcBef>
                <a:spcPts val="0"/>
              </a:spcBef>
              <a:buNone/>
            </a:pPr>
            <a:r>
              <a:rPr lang="en" sz="2400" b="1" dirty="0">
                <a:solidFill>
                  <a:schemeClr val="lt1"/>
                </a:solidFill>
                <a:latin typeface="+mj-lt"/>
              </a:rPr>
              <a:t>Benefits of Our Application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Shape 173" descr="help.jpg"/>
          <p:cNvPicPr preferRelativeResize="0"/>
          <p:nvPr/>
        </p:nvPicPr>
        <p:blipFill rotWithShape="1">
          <a:blip r:embed="rId3">
            <a:alphaModFix/>
          </a:blip>
          <a:srcRect t="51495" b="31286"/>
          <a:stretch/>
        </p:blipFill>
        <p:spPr>
          <a:xfrm>
            <a:off x="800" y="0"/>
            <a:ext cx="9142401" cy="885602"/>
          </a:xfrm>
          <a:prstGeom prst="rect">
            <a:avLst/>
          </a:prstGeom>
          <a:noFill/>
          <a:ln>
            <a:noFill/>
          </a:ln>
        </p:spPr>
      </p:pic>
      <p:pic>
        <p:nvPicPr>
          <p:cNvPr id="174" name="Shape 174" descr="logo-reverse.png"/>
          <p:cNvPicPr preferRelativeResize="0"/>
          <p:nvPr/>
        </p:nvPicPr>
        <p:blipFill>
          <a:blip r:embed="rId4">
            <a:alphaModFix/>
          </a:blip>
          <a:stretch>
            <a:fillRect/>
          </a:stretch>
        </p:blipFill>
        <p:spPr>
          <a:xfrm>
            <a:off x="0" y="0"/>
            <a:ext cx="862200" cy="885700"/>
          </a:xfrm>
          <a:prstGeom prst="rect">
            <a:avLst/>
          </a:prstGeom>
          <a:noFill/>
          <a:ln>
            <a:noFill/>
          </a:ln>
        </p:spPr>
      </p:pic>
      <p:sp>
        <p:nvSpPr>
          <p:cNvPr id="175" name="Shape 175"/>
          <p:cNvSpPr txBox="1"/>
          <p:nvPr/>
        </p:nvSpPr>
        <p:spPr>
          <a:xfrm>
            <a:off x="1398925" y="240225"/>
            <a:ext cx="5949000" cy="480300"/>
          </a:xfrm>
          <a:prstGeom prst="rect">
            <a:avLst/>
          </a:prstGeom>
          <a:noFill/>
          <a:ln>
            <a:noFill/>
          </a:ln>
        </p:spPr>
        <p:txBody>
          <a:bodyPr wrap="square" lIns="91425" tIns="91425" rIns="91425" bIns="91425" anchor="t" anchorCtr="0">
            <a:noAutofit/>
          </a:bodyPr>
          <a:lstStyle/>
          <a:p>
            <a:pPr lvl="0">
              <a:spcBef>
                <a:spcPts val="0"/>
              </a:spcBef>
              <a:buNone/>
            </a:pPr>
            <a:endParaRPr/>
          </a:p>
        </p:txBody>
      </p:sp>
      <p:sp>
        <p:nvSpPr>
          <p:cNvPr id="176" name="Shape 176"/>
          <p:cNvSpPr txBox="1"/>
          <p:nvPr/>
        </p:nvSpPr>
        <p:spPr>
          <a:xfrm>
            <a:off x="932625" y="113050"/>
            <a:ext cx="7969800" cy="650100"/>
          </a:xfrm>
          <a:prstGeom prst="rect">
            <a:avLst/>
          </a:prstGeom>
          <a:noFill/>
          <a:ln>
            <a:noFill/>
          </a:ln>
        </p:spPr>
        <p:txBody>
          <a:bodyPr wrap="square" lIns="91425" tIns="91425" rIns="91425" bIns="91425" anchor="t" anchorCtr="0">
            <a:noAutofit/>
          </a:bodyPr>
          <a:lstStyle/>
          <a:p>
            <a:pPr lvl="0" algn="ctr" rtl="0">
              <a:spcBef>
                <a:spcPts val="0"/>
              </a:spcBef>
              <a:buNone/>
            </a:pPr>
            <a:r>
              <a:rPr lang="en" sz="2400" b="1">
                <a:solidFill>
                  <a:schemeClr val="lt1"/>
                </a:solidFill>
              </a:rPr>
              <a:t>Possibilities of our data use  </a:t>
            </a:r>
          </a:p>
        </p:txBody>
      </p:sp>
      <p:sp>
        <p:nvSpPr>
          <p:cNvPr id="177" name="Shape 177"/>
          <p:cNvSpPr txBox="1"/>
          <p:nvPr/>
        </p:nvSpPr>
        <p:spPr>
          <a:xfrm>
            <a:off x="1003275" y="1069400"/>
            <a:ext cx="6598800" cy="3664200"/>
          </a:xfrm>
          <a:prstGeom prst="rect">
            <a:avLst/>
          </a:prstGeom>
          <a:noFill/>
          <a:ln>
            <a:noFill/>
          </a:ln>
        </p:spPr>
        <p:txBody>
          <a:bodyPr wrap="square" lIns="91425" tIns="91425" rIns="91425" bIns="91425" anchor="t" anchorCtr="0">
            <a:noAutofit/>
          </a:bodyPr>
          <a:lstStyle/>
          <a:p>
            <a:pPr lvl="0" rtl="0">
              <a:spcBef>
                <a:spcPts val="0"/>
              </a:spcBef>
              <a:buNone/>
            </a:pPr>
            <a:r>
              <a:rPr lang="en" sz="1700" b="1" dirty="0">
                <a:solidFill>
                  <a:schemeClr val="dk2"/>
                </a:solidFill>
              </a:rPr>
              <a:t>Emergency</a:t>
            </a:r>
            <a:r>
              <a:rPr lang="en" sz="1700" dirty="0">
                <a:solidFill>
                  <a:schemeClr val="dk2"/>
                </a:solidFill>
              </a:rPr>
              <a:t> -</a:t>
            </a:r>
            <a:r>
              <a:rPr lang="en" sz="1700" b="1" dirty="0">
                <a:solidFill>
                  <a:schemeClr val="dk2"/>
                </a:solidFill>
              </a:rPr>
              <a:t>Route Optimization for emergency management agencies</a:t>
            </a:r>
          </a:p>
          <a:p>
            <a:pPr marL="457200" lvl="0" indent="-336550" rtl="0">
              <a:spcBef>
                <a:spcPts val="0"/>
              </a:spcBef>
              <a:spcAft>
                <a:spcPts val="0"/>
              </a:spcAft>
              <a:buClr>
                <a:schemeClr val="dk2"/>
              </a:buClr>
              <a:buSzPct val="100000"/>
              <a:buChar char="-"/>
            </a:pPr>
            <a:r>
              <a:rPr lang="en" sz="1700" dirty="0">
                <a:solidFill>
                  <a:schemeClr val="dk2"/>
                </a:solidFill>
              </a:rPr>
              <a:t>Determining locations as well as best route for getting to fire emergencies  </a:t>
            </a:r>
          </a:p>
          <a:p>
            <a:pPr marL="457200" lvl="0" indent="-336550" rtl="0">
              <a:spcBef>
                <a:spcPts val="0"/>
              </a:spcBef>
              <a:buClr>
                <a:schemeClr val="dk2"/>
              </a:buClr>
              <a:buSzPct val="100000"/>
              <a:buChar char="-"/>
            </a:pPr>
            <a:r>
              <a:rPr lang="en" sz="1700" dirty="0">
                <a:solidFill>
                  <a:schemeClr val="dk2"/>
                </a:solidFill>
              </a:rPr>
              <a:t>Ambulance services for hospitals </a:t>
            </a:r>
          </a:p>
          <a:p>
            <a:pPr lvl="0" rtl="0">
              <a:spcBef>
                <a:spcPts val="0"/>
              </a:spcBef>
              <a:buNone/>
            </a:pPr>
            <a:endParaRPr sz="1700" dirty="0">
              <a:solidFill>
                <a:schemeClr val="dk2"/>
              </a:solidFill>
            </a:endParaRPr>
          </a:p>
          <a:p>
            <a:pPr lvl="0">
              <a:spcBef>
                <a:spcPts val="0"/>
              </a:spcBef>
              <a:buNone/>
            </a:pPr>
            <a:r>
              <a:rPr lang="en" sz="1700" b="1" dirty="0">
                <a:solidFill>
                  <a:schemeClr val="dk2"/>
                </a:solidFill>
              </a:rPr>
              <a:t>Utilities Based services -</a:t>
            </a:r>
            <a:r>
              <a:rPr lang="en" sz="1700" dirty="0">
                <a:solidFill>
                  <a:schemeClr val="dk2"/>
                </a:solidFill>
              </a:rPr>
              <a:t> </a:t>
            </a:r>
            <a:r>
              <a:rPr lang="en" sz="1700" dirty="0">
                <a:solidFill>
                  <a:srgbClr val="FF0000"/>
                </a:solidFill>
              </a:rPr>
              <a:t>Assist tracking in water leakage and problems ….and electrical issues For instance for Addis Ababa Water Authority and The ELPA </a:t>
            </a:r>
          </a:p>
          <a:p>
            <a:pPr lvl="0" rtl="0">
              <a:spcBef>
                <a:spcPts val="0"/>
              </a:spcBef>
              <a:buNone/>
            </a:pPr>
            <a:endParaRPr sz="1700" dirty="0">
              <a:solidFill>
                <a:srgbClr val="FF0000"/>
              </a:solidFill>
            </a:endParaRPr>
          </a:p>
          <a:p>
            <a:pPr lvl="0" rtl="0">
              <a:lnSpc>
                <a:spcPct val="115000"/>
              </a:lnSpc>
              <a:spcBef>
                <a:spcPts val="0"/>
              </a:spcBef>
              <a:buNone/>
            </a:pPr>
            <a:r>
              <a:rPr lang="en" sz="1700" b="1" dirty="0">
                <a:solidFill>
                  <a:schemeClr val="dk2"/>
                </a:solidFill>
              </a:rPr>
              <a:t>Logistic/shipping and tourism markets</a:t>
            </a:r>
            <a:r>
              <a:rPr lang="en" sz="1700" dirty="0">
                <a:solidFill>
                  <a:schemeClr val="dk2"/>
                </a:solidFill>
              </a:rPr>
              <a:t>- Improving local delivery by the Ethiopian Post Office, DHL, FedEx or Local Shipping EMS and Ethiopian tourism agency. </a:t>
            </a:r>
          </a:p>
        </p:txBody>
      </p:sp>
    </p:spTree>
  </p:cSld>
  <p:clrMapOvr>
    <a:masterClrMapping/>
  </p:clrMapOvr>
</p:sld>
</file>

<file path=ppt/theme/theme1.xml><?xml version="1.0" encoding="utf-8"?>
<a:theme xmlns:a="http://schemas.openxmlformats.org/drawingml/2006/main"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F9D58"/>
      </a:accent4>
      <a:accent5>
        <a:srgbClr val="01AFD1"/>
      </a:accent5>
      <a:accent6>
        <a:srgbClr val="9C27B0"/>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648</Words>
  <Application>Microsoft Office PowerPoint</Application>
  <PresentationFormat>On-screen Show (16:9)</PresentationFormat>
  <Paragraphs>54</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Oswald</vt:lpstr>
      <vt:lpstr>Arial</vt:lpstr>
      <vt:lpstr>Montserrat</vt:lpstr>
      <vt:lpstr>Montserrat Medium</vt:lpstr>
      <vt:lpstr>Montserrat Light</vt:lpstr>
      <vt:lpstr>Playfair Display</vt:lpstr>
      <vt:lpstr>Montserrat SemiBold</vt:lpstr>
      <vt:lpstr>Pop</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Hailegeberel, Teddy</dc:creator>
  <cp:lastModifiedBy>Hailegeberel, Teddy</cp:lastModifiedBy>
  <cp:revision>37</cp:revision>
  <dcterms:modified xsi:type="dcterms:W3CDTF">2019-03-07T16:07:12Z</dcterms:modified>
</cp:coreProperties>
</file>